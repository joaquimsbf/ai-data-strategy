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6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deixando claro que não vamos mexer nos pesos do GPT. O foco está no sistema que prepara o contexto, acompanha a decisão e controla o que o modelo pode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chamada ao GPT funciona como uma fronteira. Antes dela montamos o contexto. Durante o fluxo organizamos os papéis. No final conferimos a resposta e qualquer ação proposta.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Conecte sua atuação em Data &amp; AI, governança e aplicações corporativas ao desafio de transformar modelos capazes em sistemas controláveis.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aluno deve sair capaz de desenhar um fluxo cognitivo ao redor de GPT, não apenas escrever um prompt maior.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revela o harness cognitivo. O modelo não seleciona sozinho todo o conhecimento, não define todas as permissões e não prova que terminou corretamente.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expressão cognitivo não significa consciência. Significa organizar informação, papéis, estados e critérios que orientam a decisão probabilística.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harness não torna o GPT determinístico. Ele reduz o espaço de comportamentos aceitáveis e cria mecanismos externos para detectar e tratar desvios.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Essas camadas trabalham juntas. Só a instrução costuma gerar respostas genéricas. Já o conhecimento sem controle pode causar vazamentos e decisões erradas.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system prompt organiza comportamento consultivo. Ele não substitui autorização, validação, sandbox ou policy engine. É constituição, não polícia.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melhor pode resolver ambiguidade local. Quando há repetição, permissão, memória, recuperação ou regressão, o problema já ultrapassou o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Structured Output reduz parsing frágil e permite que o próximo nó consuma um objeto, não uma interpretação livre de texto. Schema disciplina a cognição observável.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confiança declarada pelo próprio GPT não é uma probabilidade calibrada. Vale combinar cobertura das fontes, divergências, validações e regras determinísticas.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Mais contexto e mais reflexão não significam automaticamente melhor resultado. O harness aloca orçamento cognitivo por categoria de risco.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minuto. Procure respostas que mencionem contrato, evidência e risco.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Reforce que o harness transforma linguagem em estado operacional e cria critérios externos ao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modelo não acessa o mundo diretamente. O harness decide quais instruções, evidências, memórias e resultados de tools entram na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builder deve ser código testável. Registre versão das fontes, hash do pacote, tokens estimados e motivo de inclusão de cada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pipeline mostra que RAG não é somente busca vetorial. A qualidade cognitiva depende de interpretação, filtragem, composição e contrato de saída.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reduz dependência da memória paramétrica. Não elimina alucinação, documento desatualizado, conflito entre fontes ou prompt injection indireta.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estratégia precisa ser testada com perguntas reais. O score de recuperação ajuda a ordenar evidências, mas não mede a veracidade da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harness precisa modelar autoridade, não apenas similaridade. O chunk mais parecido não é necessariamente a fonte que governa 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Memória não é transcript infinito. Defina escrita, leitura, expiração, privacidade e mecanismo de correção para cada horizonte.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Instrução e dado precisam de fronteiras claras. Resultado de tool e documento recuperado são entradas não confiáveis, mesmo quando vêm de sistemas internos.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 não formam um filtro único. Alguns orientam o modelo. Outros bloqueiam uma operação antes ou depois da chamada.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respostas que mencionem interpretação, autoridade e curadoria.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Reforce: o harness cognitivo governa não só o que é relevante, mas o que é autorizado, confiável e necessário.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Entramos nos mecanismos que estruturam o raciocínio observável: papéis, planos, tools, gates, evals e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Separar os papéis reduz a tendência de o modelo justificar a própria resposta. Não é obrigatório usar modelos diferentes. O importante é separar estados e instruções.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Planejar antes de agir faz diferença quando há efeitos externos. O plano precisa ser verificável. Uma explicação convincente do GPT, sozinha, não é suficiente.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Mais etapas de raciocínio não garantem uma resposta melhor. A reflexão precisa receber uma evidência nova ou um feedback que realmente ajude a corrigir o caminho.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descrição da ferramenta ajuda o GPT a escolher quando usá-la. O retorno e os erros também influenciam a próxima decisão e fazem parte do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pergunta útil é verificar onde as proibições estão implementadas. Uma decisão crítica não pode depender apenas de uma instrução em linguagem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Human-in-the-loop não é fallback improvisado. É nó modelado com SLA, pacote de decisão, trilha de auditoria e mecanismo de retomada.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Avalie três níveis: contexto, trajetória e saída. Resposta correta por caminho caro ou perigoso não é sucesso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Observabilidade não deve registrar apenas resposta final. Sem trajetória, todo incidente vira opinião sobre 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responde diretamente à pergunta da aula: o lado cognitivo é a arquitetura que organiza o que o GPT vê, como avança e como é verificado.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respostas para identificar conceitos que precisam de reforço.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madura relaciona os componentes, em vez de tratar RAG, guardrail ou prompt como solução isolada.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este desenho como referência prática. Ele ajuda a revisar uma aplicação baseada em GPT sem prender a solução a um framework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ideia final é simples. Não estamos tentando fazer o modelo pensar como uma pessoa. Estamos criando um processo que pode ser acompanhado, limitado e verificado.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ALURA  ·  Skills &amp; Go  ·  AI 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100" b="1">
                <a:solidFill>
                  <a:srgbClr val="B7C9E4"/>
                </a:solidFill>
                <a:latin typeface="Arial"/>
              </a:rPr>
              <a:t>Harness Cognitivo com 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B7C9E4"/>
                </a:solidFill>
                <a:latin typeface="Arial"/>
              </a:rPr>
              <a:t>RAG, memória, guardrails, reflexão e avaliação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FFFFFF"/>
                </a:solidFill>
                <a:latin typeface="Arial"/>
              </a:rPr>
              <a:t>Mapa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1133856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B7C9E4"/>
                </a:solidFill>
                <a:latin typeface="Arial"/>
              </a:rPr>
              <a:t>Três camadas do harness cognitivo
• Entrada cognitiva: Instruções, contratos, contexto, RAG, memória e evidências.
• Processo cognitivo: Planejamento, geração, crítica, revisão, decisão e uso de ferramentas.
• Controle cognitivo: Guardrails, incerteza, gates humanos, evals e observabilidade.</a:t>
            </a:r>
            <a:endParaRPr sz="2000" b="0" dirty="0">
              <a:solidFill>
                <a:srgbClr val="B7C9E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Quem vai conduzir a aula?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 / 40</a:t>
            </a:r>
          </a:p>
        </p:txBody>
      </p:sp>
      <p:pic>
        <p:nvPicPr>
          <p:cNvPr id="14" name="Picture 13" descr="Pictur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3383280" cy="344651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1480" y="1737360"/>
            <a:ext cx="7498079" cy="4114800"/>
          </a:xfrm>
          <a:prstGeom prst="roundRect">
            <a:avLst>
              <a:gd name="adj" fmla="val 6000"/>
            </a:avLst>
          </a:prstGeom>
          <a:solidFill>
            <a:srgbClr val="0B3D6E"/>
          </a:solidFill>
          <a:ln w="19050">
            <a:solidFill>
              <a:srgbClr val="3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96596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 b="1">
                <a:solidFill>
                  <a:srgbClr val="6CB6FF"/>
                </a:solidFill>
                <a:latin typeface="Arial"/>
              </a:rPr>
              <a:t>Instrutor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300" b="1">
                <a:solidFill>
                  <a:srgbClr val="FFFFFF"/>
                </a:solidFill>
                <a:latin typeface="Arial"/>
              </a:rPr>
              <a:t>Joaquim da Silva Barraca Filho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971800"/>
            <a:ext cx="6949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B7C9E4"/>
                </a:solidFill>
                <a:latin typeface="Arial"/>
              </a:rPr>
              <a:t>Coordenador de Dados e IA na Chaintech | Professor FIAP
Mais de 15 anos em dados e mercado financeiro. Especialista em Data &amp; AI, GenAI, RAG, AWS e aplicações corporativas de 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5183879"/>
            <a:ext cx="3383280" cy="109728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Objetivos de aprendizagem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Compreender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Separar cognição do modelo e cognição projetada pelo harness.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Projetar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Combinar contexto, RAG, memória, papéis e guardrails.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Avaliar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Medir trajetória, incerteza, fundamentação e qualidade da decisão.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O que acontece entre a pergunta e a resposta?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Quem escolhe contexto, evidência, estratégia, limites e critério de conclusão?
• O GPT recebe uma janela pronta. O harness é quem constrói essa janela.
• O GPT pode propor ações. A autorização e a conferência ficam fora do modelo.
• O GPT produz linguagem. Ainda precisamos conferir se a resposta está correta e se é útil.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 b="1">
                <a:solidFill>
                  <a:srgbClr val="6CB6FF"/>
                </a:solidFill>
                <a:latin typeface="Arial"/>
              </a:rPr>
              <a:t>PARTE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100" b="1">
                <a:solidFill>
                  <a:srgbClr val="FFFFFF"/>
                </a:solidFill>
                <a:latin typeface="Arial"/>
              </a:rPr>
              <a:t>1. Anatomia do harness cognitivo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GPT puro versus GPT com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GPT puro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A instrução e o contexto entram em uma chamada. A resposta encerra o fluxo.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GPT com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Contexto é montado, saída é estruturada, verificada e pode iniciar nova etapa.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Diferença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 modelo continua probabilístico. O processo ao redor passa a ter estado e controle.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A pilha cognitiva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Instrução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Papel, objetivo, política, exemplos e contrato de resposta.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Conhecimento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RAG, memória, dados operacionais, metadados e precedência de fontes.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Planner, critic, validators, tools, guardrails, gates e evals.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System prompt como constituição cognitiva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Identidade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Define papel, domínio, linguagem e responsabilidade do agente.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Política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Explicita prioridades, fontes autorizadas e quando recusar ou escalar.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Metacontrole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Orienta como planejar, usar tools, citar evidências e declarar incerteza.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Prompting não é o harness inteiro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Ajuda a ajustar uma chamada com instruções, exemplos, formato e tom.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Harness cognitivo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Organiza o fluxo completo, incluindo estado, busca, reflexão, ferramentas e parada.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Sinal de alerta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Se cada falha vira nova frase no prompt, falta arquitetura.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Contrato de saída para orientar o 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JSON Schema ou Pydantic define campos, tipos, enums e obrigatoriedade.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Semântica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Resposta, evidências, confiança, decisão e motivo tornam-se explícitos.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Validação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Formato correto não basta. As regras de negócio ainda precisam ser validadas.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Incerteza, recusa e pedido de esclarecimento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Evidência insuficiente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 agente deve distinguir ausência de dado de resposta negativa.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Ambiguidade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Pergunta de clarificação evita que o modelo escolha premissa escondida.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Recusa útil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Nomeia limite, informa o que falta e aponta próxima ação segura.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Orçamento cognitivo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Contexto concorre com instruções, evidências e memória na mesma janela.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Turnos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Cada reflexão pode melhorar qualidade ou apenas repetir raciocínio.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Latência e custo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Profundidade deve variar conforme risco e valor da tarefa.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Checkpoint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CB6FF"/>
                </a:solidFill>
                <a:latin typeface="Arial"/>
              </a:rPr>
              <a:t>Onde termina o prompt e começa o harness?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Um schema de saída é apenas formatação?
2. Confiança escrita pelo GPT é uma probabilidade calibrada?
3. Quando pedir esclarecimento é melhor que gerar?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Checkpoint 1 |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1. Não. O schema torna estado e decisão validáveis por outros componentes.
2. Não. É apenas um sinal textual e precisa ser comparado com métricas externas.
3. Quando a ambiguidade altera premissas, políticas ou ações de alto impacto.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 b="1">
                <a:solidFill>
                  <a:srgbClr val="6CB6FF"/>
                </a:solidFill>
                <a:latin typeface="Arial"/>
              </a:rPr>
              <a:t>PARTE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100" b="1">
                <a:solidFill>
                  <a:srgbClr val="FFFFFF"/>
                </a:solidFill>
                <a:latin typeface="Arial"/>
              </a:rPr>
              <a:t>2. Contexto, RAG e memória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Context builder: a função cognitiva central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Selecionar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Escolher conteúdo relevante à intenção, risco e etapa atual.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Ordenar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Posicionar política, evidência e pergunta com precedência explícita.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Comprimir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Preservar decisões e fatos, descartando histórico sem utilidade.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Da pergunta à resposta fundamentada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1. Interpretar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Classificar intenção, escopo e risco.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2. Reescrever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Criar consulta adequada sem alterar sentido.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3. Recuperar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Buscar documentos, memória e dados autorizados.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4. Filtrar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Aplicar relevância, permissão, validade e precedência.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5. Compor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Montar contexto com citações e orçamento.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19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6. Gerar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Produzir saída estruturada e fundamentada.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RAG como memória externa de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O modelo raciocina sobre evidências recuperadas, não sobre uma verdade garantida.
• Atualização: Conhecimento muda sem alterar os pesos do GPT.
• Rastreabilidade: Fontes e trechos permitem auditoria da resposta.
• Limite: Recuperar trecho relevante não garante interpretação correta.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Estratégias de recuperação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Lexical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Alta precisão quando consulta e documento compartilham vocabulário.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Semântica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Embeddings aproximam significado, sinônimos e paráfrases.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Híbrida + reranking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Combina cobertura e precisão, com maior custo de calibração.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Hierarquia e confiança das fontes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Autoridade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Política normativa pode ter precedência sobre FAQ e histórico.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Atualidade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Versão, data de revisão e owner reduzem documentação zumbi.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Conflito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Divergência deve acionar regra, esclarecimento ou gate humano.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Memória em três horizontes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Trabalho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Estado necessário para a decisão atual, dentro da janela.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Sessão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Checkpoint, resumo e pendências para retomar a trajetória.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Longo prazo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Preferências e conhecimento curados, carregados sob demanda.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Context rot e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Mais informação pode reduzir capacidade efetiva.
• Context rot: Ruído e histórico competem com objetivo, política e evidência.
• Injection: Conteúdo externo tenta assumir papel de instrução.
• Resposta do harness: Isolar papéis, sanitizar, minimizar privilégio e validar reentrada.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Guardrails em quatro fronteiras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Escopo, PII, abuso, injection e requisitos mínimos.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Permissão, fonte, versão, integridade e orçamento.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Saída + 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Schema, política, evidência, autorização e efeitos externos.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Checkpoint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CB6FF"/>
                </a:solidFill>
                <a:latin typeface="Arial"/>
              </a:rPr>
              <a:t>RAG, memória e proteção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RAG garante que a resposta seja verdadeira?
2. O chunk mais similar deve sempre vencer?
3. Transcript completo é uma boa memória de longo prazo?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Checkpoint 2 |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1. Não. O RAG fornece evidências, mas a geração e a validação ainda podem falhar.
2. Não. Autoridade, validade e permissão também determinam precedência.
3. Não. Memória longa exige seleção, resumo, expiração e correção.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 b="1">
                <a:solidFill>
                  <a:srgbClr val="6CB6FF"/>
                </a:solidFill>
                <a:latin typeface="Arial"/>
              </a:rPr>
              <a:t>PARTE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100" b="1">
                <a:solidFill>
                  <a:srgbClr val="FFFFFF"/>
                </a:solidFill>
                <a:latin typeface="Arial"/>
              </a:rPr>
              <a:t>3. Raciocínio, controle e avaliação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Generate, Critique, Revise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Cria resposta inicial vinculada ao objetivo e ao contrato.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Critique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Localiza lacunas, conflitos, ausência de evidência e violações.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Revise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Aplica correções limitadas e preserva partes já aprovadas.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Planner, Executor, Verifier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Decompõe objetivo, explicita pré-condições e seleciona capacidades.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Realiza passos autorizados e registra argumentos, retornos e efeitos.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Compara artefato e trajetória com critérios externos.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Reflexão: quando ajuda e quando vira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Ajuda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Critério explícito permite detectar erro corrigível e aplicar 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Não ajuda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Sem nova evidência, o modelo pode repetir ou racionalizar a mesma falha.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Teto de turnos, orçamento, detecção de oscilação e escalonamento.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Tools ancoram cognição em ação e evidência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Percepção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Busca, consulta e leitura trazem fatos externos à janela.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APIs executam efeitos que linguagem sozinha não realiza.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Contrato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Schema, timeout, idempotência e recusa tipada orientam recuperação.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Guardrail consultivo versus executável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Consultivo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No prompt: orienta, mas depende da interpretação do modelo.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Executável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No servidor: autentica, autoriza, valida e bloqueia.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Camadas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 GPT recebe a orientação. O sistema garante que a regra seja cumprida.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Human gate e incerteza material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Quando interromper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Risco alto, evidência conflitante, baixa cobertura ou ação irreversível.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O que entregar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Objetivo, plano, fontes, mudanças, incertezas e recomendação.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Como retomar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Checkpoint preserva estado e decisão humana orienta a próxima aresta.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Eval cognitivo: medir a trajetória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Fundamentação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A resposta usa evidências suficientes e autorizadas?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Processo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Plano, tools, turnos e parada foram adequados?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Saída correta, útil, segura e dentro do contrato?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Observabilidade cognitiva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Registra prompts, contexto, decisões, tools, validações e versão.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Métricas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Sucesso, grounding, turnos, custo, latência e intervenção.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Diagnóstico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Classifica falha em contexto, raciocínio, contrato, tool ou política.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Resumo: o que fazemos no lado cognitivo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• Definimos identidade, objetivo, políticas e formato da decisão.
• Construímos contexto com RAG, memória, metadados e precedência.
• Organizamos papéis de planejamento, execução, crítica e verificação.
• Ancoramos raciocínio em tools e evidências externas.
• Tratamos incerteza com recusa, esclarecimento e human gate.
• Medimos contexto, trajetória e saída continuamente.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Quiz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CB6FF"/>
                </a:solidFill>
                <a:latin typeface="Arial"/>
              </a:rPr>
              <a:t>Validação conceitual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Qual a diferença entre RAG, memória e contexto?
2. Por que structured output é componente cognitivo?
3. Quando reflexão piora o agente?
4. Onde devem viver restrições críticas?
5. Quais três níveis de eval cognitivo?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Quiz final | Respostas esperadas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1. O RAG recupera informações. A memória mantém o que precisa persistir. O contexto reúne o que será usado naquela decisão.
2. Porque transforma linguagem em estado validável e consumível.
3. Quando não recebe evidência nova nem critério discriminativo.
4. Em camadas executáveis fora do modelo, além da orientação no prompt.
5. Contexto, trajetória e saída.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Blueprint de um harness cognitivo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• Na entrada, classificamos intenção, risco, escopo e dados pessoais.
• O construtor de contexto reúne políticas, RAG, memória e estado.
• O planejador define os passos, as ferramentas, o orçamento e o critério de conclusão.
• O executor faz chamadas estruturadas e registra os efeitos.
• O verificador confere evidências, regras e políticas.
• Na saída, o sistema decide entre responder, pedir esclarecimento, recusar ou escalar.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700" b="1">
                <a:solidFill>
                  <a:srgbClr val="FFFFFF"/>
                </a:solidFill>
                <a:latin typeface="Arial"/>
              </a:rPr>
              <a:t>Obrigado
O GPT fornece capacidade
O harness cognitivo fornece direção, memória, limites e evidência</a:t>
            </a:r>
            <a:endParaRPr sz="4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40 / 40</a:t>
            </a:r>
          </a:p>
        </p:txBody>
      </p:sp>
      <p:pic>
        <p:nvPicPr>
          <p:cNvPr id="7" name="QR Code Feedback" descr="c__Users_FIAP_AppData_Roaming_Cursor_User_workspaceStorage_empty-window_images_WhatsApp_Image_2026-08-17_at_18.53.54-322f1527-09f2-44ae-9294-8843e06bb1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971" y="1578893"/>
            <a:ext cx="2331720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2885</Words>
  <Application>Microsoft Office PowerPoint</Application>
  <PresentationFormat>Widescreen</PresentationFormat>
  <Paragraphs>501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Joaquim da Silva Barraca Filho</cp:lastModifiedBy>
  <cp:revision>5</cp:revision>
  <dcterms:created xsi:type="dcterms:W3CDTF">2013-01-27T09:14:16Z</dcterms:created>
  <dcterms:modified xsi:type="dcterms:W3CDTF">2026-09-15T00:57:24Z</dcterms:modified>
  <cp:category/>
</cp:coreProperties>
</file>