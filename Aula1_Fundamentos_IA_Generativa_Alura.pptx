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1" r:id="rId15"/>
    <p:sldId id="26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ALURA  ·  Skills &amp; Go  ·  AI Data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B7C9E4"/>
                </a:solidFill>
                <a:latin typeface="Arial"/>
              </a:rPr>
              <a:t>Aula 1</a:t>
            </a:r>
          </a:p>
          <a:p>
            <a:r>
              <a:rPr sz="3600" b="1">
                <a:solidFill>
                  <a:srgbClr val="FFFFFF"/>
                </a:solidFill>
                <a:latin typeface="Arial"/>
              </a:rPr>
              <a:t>Fundamentos de IA Generativa
e Modelos Fundacionais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B7C9E4"/>
                </a:solidFill>
                <a:latin typeface="Arial"/>
              </a:rPr>
              <a:t>Base teórica para o projeto Allura Finance · Board Pack + projeto com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 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Arial"/>
              </a:rPr>
              <a:t>Aula 1 |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Fundamentos</a:t>
            </a:r>
            <a:r>
              <a:rPr sz="3000" b="1" dirty="0">
                <a:solidFill>
                  <a:srgbClr val="FFFFFF"/>
                </a:solidFill>
                <a:latin typeface="Arial"/>
              </a:rPr>
              <a:t> de IA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Generativa</a:t>
            </a:r>
            <a:r>
              <a:rPr lang="pt-BR" sz="3000" b="1" dirty="0">
                <a:solidFill>
                  <a:srgbClr val="FFFFFF"/>
                </a:solidFill>
                <a:latin typeface="Arial"/>
              </a:rPr>
              <a:t> e Modelos Fundacionais</a:t>
            </a:r>
          </a:p>
          <a:p>
            <a:endParaRPr sz="3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1133856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endParaRPr sz="2000" b="0" dirty="0">
              <a:solidFill>
                <a:srgbClr val="B7C9E4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 dirty="0" err="1">
                <a:solidFill>
                  <a:srgbClr val="B7C9E4"/>
                </a:solidFill>
                <a:latin typeface="Arial"/>
              </a:rPr>
              <a:t>Objetivo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construir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uma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base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comum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de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vocabulário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e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julgamento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crítico</a:t>
            </a:r>
            <a:endParaRPr sz="2000" b="0" dirty="0">
              <a:solidFill>
                <a:srgbClr val="B7C9E4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B7C9E4"/>
                </a:solidFill>
                <a:latin typeface="Arial"/>
              </a:rPr>
              <a:t>antes de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entrar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no pipeline de dados e no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projeto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do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curso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Quem vai conduzir a aula?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 / 40</a:t>
            </a:r>
          </a:p>
        </p:txBody>
      </p:sp>
      <p:pic>
        <p:nvPicPr>
          <p:cNvPr id="14" name="Picture 13" descr="Pictur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3383280" cy="344651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11480" y="1737360"/>
            <a:ext cx="7498079" cy="4114800"/>
          </a:xfrm>
          <a:prstGeom prst="roundRect">
            <a:avLst>
              <a:gd name="adj" fmla="val 6000"/>
            </a:avLst>
          </a:prstGeom>
          <a:solidFill>
            <a:srgbClr val="0B3D6E"/>
          </a:solidFill>
          <a:ln w="19050">
            <a:solidFill>
              <a:srgbClr val="3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96596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Instrutor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Joaquim da Silva Barraca Filho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971800"/>
            <a:ext cx="6949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Coordenador de Dados e IA na Chaintech | Professor FIAP</a:t>
            </a:r>
          </a:p>
          <a:p>
            <a:pPr>
              <a:spcAft>
                <a:spcPts val="200"/>
              </a:spcAft>
            </a:pPr>
            <a:endParaRPr sz="1500" b="0">
              <a:solidFill>
                <a:srgbClr val="B7C9E4"/>
              </a:solidFill>
              <a:latin typeface="Arial"/>
            </a:endParaRP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Mais de 15 anos em dados e mercado financeiro: analytics,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compliance, research e investimentos.</a:t>
            </a:r>
          </a:p>
          <a:p>
            <a:pPr>
              <a:spcAft>
                <a:spcPts val="200"/>
              </a:spcAft>
            </a:pPr>
            <a:endParaRPr sz="1500" b="0">
              <a:solidFill>
                <a:srgbClr val="B7C9E4"/>
              </a:solidFill>
              <a:latin typeface="Arial"/>
            </a:endParaRP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Especialista em Data &amp; AI, GenAI, RAG e AWS. Lidera iniciativas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que conectam estratégia de dados, governança e IA a resultados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de negócio.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5183879"/>
            <a:ext cx="3383280" cy="109728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Objetivos de aprendizagem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Compreender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Diferenciar Inteligência Artificial, Machine Learning, Deep Learning e IA Generativa.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Explicar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Descrever, em linguagem simples, como um modelo de linguagem transforma uma entrada em resposta.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Aplicar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Reconhecer capacidades, limitações e oportunidades de uso responsável no ambiente corporativo.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Pergunta de abertura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Onde a Inteligência Artificial já aparece no seu dia a dia?</a:t>
            </a:r>
          </a:p>
          <a:p>
            <a:pPr>
              <a:spcAft>
                <a:spcPts val="800"/>
              </a:spcAft>
            </a:pPr>
            <a:endParaRPr sz="24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Pense em recomendações, buscas, mapas, filtros de spam,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assistentes digitais e criação de conteúdo.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CB6FF"/>
                </a:solidFill>
                <a:latin typeface="Arial"/>
              </a:rPr>
              <a:t>PARTE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O que é Inteligência Artificial?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8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IA · Machine Learning · Deep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Inteligência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Campo que desenvolve sistemas capazes de realizar tarefas associadas à inteligência humana: perceber, prever, recomendar, decidir e gerar.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Abordagem em que sistemas aprendem padrões a partir de dados, em vez de receber todas as regras manualmente.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Deep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Subárea de Machine Learning baseada em redes neurais com múltiplas camadas, útil para texto, imagem, áudio e vídeo.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9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Machine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O que é?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Forma de desenvolver sistemas que aprendem padrões a partir de dados para realizar previsões ou classificações.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Como funciona?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Dados → treinamento → avaliação → uso do modelo.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algoritmo ajusta parâmetros para reduzir erros nos exemplos.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Exemplos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Filtro de spam, previsão de demanda, recomendação de produtos, detecção de fraude e análise de risco.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10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Tipos de aprendizado em Machine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Supervisionado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Aprende com exemplos que possuem respostas conhecidas.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Ex.: mensagens classificadas como spam ou não spam.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Não supervisionado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Encontra estruturas e agrupamentos sem respostas previamente definidas.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Ex.: segmentação de clientes.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Por reforço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Aprende por tentativa, consequência e recompensa.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Ex.: estratégias em jogos, robótica e otimização.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11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Deep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Redes neurais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Utiliza camadas de unidades matemáticas conectadas, inspiradas de forma simplificada no funcionamento de neurônios.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Representações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As camadas aprendem características progressivamente: de padrões simples até relações mais complexas.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Quando é útil?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Grandes volumes de dados e tarefas complexas de visão, fala, linguagem, tradução e geração de conteúdo.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12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IA tradicional × IA generativa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IA tradicional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Classifica, prevê, recomenda ou detecta padrões.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Exemplos: fraude, previsão de demanda e filtro de spam.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IA generativa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Produz novos conteúdos com base nos padrões aprendidos.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Exemplos: textos, imagens, códigos, áudios e vídeos.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Diferença essencial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 tradicional responde “o que é?” ou “o que acontecerá?”.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 generativa também responde “o que podemos criar?”.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13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Inteligência Artificial Generativa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O que gera?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Textos, imagens, códigos, áudios, vídeos e outras combinações de conteúdo.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Como é orientada?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Recebe uma entrada — o prompt — e produz uma saída condicionada pelo contexto, instruções e padrões aprendidos.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Ponto de atenção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Conteúdo novo não significa conteúdo verdadeiro. Resultados podem conter erros, vieses ou informações inventadas.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14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Onde a GenAI aparece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Uso pessoal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Organização de ideias, tradução, estudo, planejamento, resumos e criação de conteúdo.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Uso corporativo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Atendimento, análise documental, pesquisa interna, apoio à decisão e automação de tarefas.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Multimodalidade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Um mesmo sistema pode compreender e gerar diferentes tipos de conteúdo: texto, imagem, áudio e vídeo.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15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Quiz diagnóstico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CB6FF"/>
                </a:solidFill>
                <a:latin typeface="Arial"/>
              </a:rPr>
              <a:t>Responda sem pesquisar — não vale nota.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ChatGPT é um modelo ou uma aplicação?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2. A IA generativa apenas pesquisa respostas prontas?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3. Qual destas opções usa IA: filtro de spam, sistema de recomendação ou projeto?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4. Um texto convincente produzido por IA é necessariamente verdadeiro?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6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Quiz diagnóstico | Respostas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Aplicação — utiliza modelos e outros componentes.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2. Não — gera conteúdo com base em padrões e probabilidades.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3. Todas as opções podem utilizar Inteligência Artificial.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4. Não — fluência e confiança não garantem veracidade.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7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CB6FF"/>
                </a:solidFill>
                <a:latin typeface="Arial"/>
              </a:rPr>
              <a:t>PARTE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Como os LLMs funcionam?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LLM = Large Language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Large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Modelos treinados com grandes volumes de dados e muitos parâmetros ajustados durante o aprendizado.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Trabalham com padrões da linguagem: palavras, relações, estilos, estruturas e contextos.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Representação matemática que calcula probabilidades para produzir a continuação mais adequada ao contexto.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Do texto à resposta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modelo recebe a instrução e o contexto.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Tokenização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conteúdo é dividido em tokens.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Contexto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Atenção relaciona tokens relevantes.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Processamento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Camadas transformam relações.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Probabilidades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Estima o próximo token.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19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Geração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Repete até formar a resposta.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Experimento 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Complete a frase: “O céu está...”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Azul? Nublado? Escuro?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A continuação depende do contexto. Um LLM realiza algo semelhante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em escala muito maior, calculando probabilidades para cada token.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Você digita: “Explique IA generativa de forma simples.”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O modelo gera a resposta token por token — não recupera uma frase pronta.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Treinamento · Inferência · Atenção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Treinamento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modelo observa grandes conjuntos de dados, identifica padrões e ajusta seus parâmetros.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É a etapa de aprendizado.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Inferência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modelo já treinado recebe uma entrada e gera uma resposta.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É o que acontece no uso cotidiano.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Ajuda o modelo a identificar quais partes do contexto são mais relevantes para interpretar e produzir a resposta.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Transformers e Self-Attention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Arquitetura de rede neural que se tornou a base da maioria dos grandes modelos de linguagem modernos.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Self-attention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Calcula quais partes do texto são mais relevantes entre si, ajudando a interpretar dependências e contexto.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Permite processar relações em sequências extensas e gerar texto coerente — sem equivaler à compreensão humana.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Tokens e janela de contexto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Unidades processadas pelo modelo. Podem representar palavras inteiras, partes de palavras, números ou sinais.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Janela de 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Quantidade de informação que o modelo consegue considerar em uma interação.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Consequência prática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Contexto insuficiente → respostas genéricas.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Contexto excessivo ou desorganizado pode ocultar o que é importante.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 modelo compreende como uma pessoa?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Não da mesma forma.</a:t>
            </a:r>
          </a:p>
          <a:p>
            <a:pPr>
              <a:spcAft>
                <a:spcPts val="800"/>
              </a:spcAft>
            </a:pPr>
            <a:endParaRPr sz="22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O LLM reconhece relações estatísticas complexas e produz linguagem convincente.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Fluência não garante compreensão, verdade ou intenção.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Limites que importam no negócio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Alucinações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modelo pode produzir informações plausíveis, porém incorretas ou inexistentes.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Limites de 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modelo pode não conhecer dados recentes, privados ou específicos da organização.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Riscos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Vieses, exposição de dados, uso indevido e confiança excessiva exigem validação e responsabilidade humana.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Checkpoint | Como um LLM funciona?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CB6FF"/>
                </a:solidFill>
                <a:latin typeface="Arial"/>
              </a:rPr>
              <a:t>Escolha uma resposta e explique o motivo.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O que é um token?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2. Como um LLM gera uma resposta?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3. Treinamento e inferência são a mesma coisa?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4. O que é uma janela de contexto?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5. Por que um modelo pode alucinar?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Checkpoint | Respostas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Unidade de texto processada pelo modelo.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2. Prevê e gera tokens sucessivamente, considerando o contexto.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3. Não. Treinamento é aprendizado; inferência é utilização.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4. Limite de informação considerado durante a interação.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5. Porque otimiza uma continuação plausível, não a verdade factual.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CB6FF"/>
                </a:solidFill>
                <a:latin typeface="Arial"/>
              </a:rPr>
              <a:t>PARTE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Modelos Fundacionais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 que caracteriza um modelo fundacional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Treinamento amplo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São treinados em grandes volumes e variedades de dados para aprender capacidades gerais.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Reutilização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Um mesmo modelo pode apoiar diversas tarefas sem precisar ser treinado novamente desde o início.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Adaptação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Pode ser orientado por prompts, conectado a dados ou especializado para necessidades específicas.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Como adaptar um modelo fundacional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Orienta o comportamento do modelo com instruções, contexto, exemplos e formato de resposta.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Recupera informações de fontes externas e as fornece ao modelo antes da geração da resposta.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Ajusta o comportamento do modelo com exemplos específicos. Útil quando prompting e RAG não bastam.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Modelo · Projeto · Aplicação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mecanismo matemático que processa entradas e gera saídas.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Interface conversacional construída sobre um modelo, com instruções e recursos adicionais.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Aplicação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Solução completa que combina modelo, dados, regras, ferramentas, segurança e experiência do usuário.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Tipos de modelo na prática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Modelo-base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Aprende padrões gerais e prevê continuações, mas pode não seguir instruções de maneira confiável.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 instruído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É ajustado para compreender e executar solicitações em formato de instrução.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 conversacional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É preparado para diálogos, considerando papéis, histórico e turnos da conversa.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Proprietários × abertos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Modelos proprietários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Operados por fornecedores. Facilitam adoção e suporte, mas dependem de políticas, preços e infraestrutura externa.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Modelos abertos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Oferecem maior controle e possibilidade de execução própria, mas exigem infraestrutura e conhecimento técnico.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Critérios de escolha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Qualidade, segurança, privacidade, custo, latência, idioma, governança e necessidade de personalização.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 que a GenAI faz bem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Criar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Redigir, resumir, traduzir, transformar formatos e gerar novas versões de conteúdo.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Compreender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Classificar, extrair informações, comparar documentos e identificar padrões.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Apoiar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Pesquisar, organizar conhecimento, sugerir alternativas e auxiliar decisões — sempre com supervisão.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Checklist rápido de caso de uso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Entrada clara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 informação necessária está disponível, autorizada e em formato utilizável?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Saída verificável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É possível avaliar objetivamente se a resposta está correta e útil?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Risco controlado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Existe revisão humana e um procedimento para erros, dados sensíveis e decisões de alto impacto?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Uso responsável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Privacidade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Não inserir informações pessoais, confidenciais ou estratégicas sem autorização e proteção adequadas.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Verificação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Confirmar fatos, números, referências e recomendações antes de utilizar ou publicar.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Responsabilidade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 decisão final continua sendo humana. IA deve apoiar, não eliminar, a prestação de contas.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Resumo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IA generativa cria novos conteúdos a partir de padrões aprendidos.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LLMs processam tokens, usam o contexto e geram respostas por probabilidade.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Modelos fundacionais servem como base reutilizável para diferentes aplicações.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Fluência não é garantia de verdade: validação, privacidade e responsabilidade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  humana são essenciais.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Quiz final | Revisão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CB6FF"/>
                </a:solidFill>
                <a:latin typeface="Arial"/>
              </a:rPr>
              <a:t>30 segundos por pergunta. Depois, discutimos as respostas.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Qual é a diferença entre IA tradicional e IA generativa?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2. O que significa LLM?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3. O que caracteriza um modelo fundacional?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4. Qual é a diferença entre modelo, projeto e aplicação?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5. Por que respostas de IA precisam ser verificadas?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6. Cite um bom caso de uso corporativo.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Quiz final | Respostas esperadas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A tradicional prevê ou classifica; a generativa cria conteúdo.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2. Large Language Model — grande modelo de linguagem.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3. Treinamento amplo, capacidade geral, reutilização e adaptação.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4. Modelo = mecanismo; projeto = interface; aplicação = modelo + dados + regras + segurança.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5. Porque respostas plausíveis podem estar incorretas.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6. Deve ter entrada clara, saída verificável e risco controlado.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Ponte para o projeto do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Se um LLM pode alucinar e não conhece os documentos internos da organização,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como adicionamos conhecimento confiável e limites de segurança?</a:t>
            </a:r>
          </a:p>
          <a:p>
            <a:pPr>
              <a:spcAft>
                <a:spcPts val="800"/>
              </a:spcAft>
            </a:pPr>
            <a:endParaRPr sz="18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No AI Data Strategy (Allura Finance):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dados → limpeza → análise validada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RAG sobre evidências de negócio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guardrails (PII, escopo, prompt injection)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Board Pack para a diretoria</a:t>
            </a:r>
          </a:p>
          <a:p>
            <a:pPr>
              <a:spcAft>
                <a:spcPts val="800"/>
              </a:spcAft>
            </a:pPr>
            <a:endParaRPr sz="18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Próximos temas: Prompt na prática · motor de dados · RAG e Guardrails.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 err="1">
                <a:solidFill>
                  <a:srgbClr val="FFFFFF"/>
                </a:solidFill>
                <a:latin typeface="Arial"/>
              </a:rPr>
              <a:t>Obrigado</a:t>
            </a:r>
            <a:endParaRPr sz="4000" b="1" dirty="0">
              <a:solidFill>
                <a:srgbClr val="FFFFFF"/>
              </a:solidFill>
              <a:latin typeface="Arial"/>
            </a:endParaRPr>
          </a:p>
          <a:p>
            <a:r>
              <a:rPr sz="1800" b="0" dirty="0">
                <a:solidFill>
                  <a:srgbClr val="6CB6FF"/>
                </a:solidFill>
                <a:latin typeface="Arial"/>
              </a:rPr>
              <a:t>ALURA · Skills &amp; Go · AI Data Strategy</a:t>
            </a:r>
          </a:p>
          <a:p>
            <a:endParaRPr sz="2000" b="0" dirty="0">
              <a:solidFill>
                <a:srgbClr val="B7C9E4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40 / 40</a:t>
            </a:r>
          </a:p>
        </p:txBody>
      </p:sp>
      <p:pic>
        <p:nvPicPr>
          <p:cNvPr id="7" name="QR Code Feedback" descr="c__Users_FIAP_AppData_Roaming_Cursor_User_workspaceStorage_empty-window_images_WhatsApp_Image_2026-08-17_at_18.53.54-322f1527-09f2-44ae-9294-8843e06bb1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280" y="4526280"/>
            <a:ext cx="2331720" cy="233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2885</Words>
  <Application>Microsoft Office PowerPoint</Application>
  <PresentationFormat>Widescreen</PresentationFormat>
  <Paragraphs>501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Joaquim da Silva Barraca Filho</cp:lastModifiedBy>
  <cp:revision>4</cp:revision>
  <dcterms:created xsi:type="dcterms:W3CDTF">2013-01-27T09:14:16Z</dcterms:created>
  <dcterms:modified xsi:type="dcterms:W3CDTF">2026-08-17T22:09:32Z</dcterms:modified>
  <cp:category/>
</cp:coreProperties>
</file>