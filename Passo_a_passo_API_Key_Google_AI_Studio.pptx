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5"/>
  </p:sldMasterIdLst>
  <p:notesMasterIdLst>
    <p:notesMasterId r:id="rId23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14"/>
    <p:sldId id="265" r:id="rId13"/>
    <p:sldId id="266" r:id="rId12"/>
  </p:sldIdLst>
  <p:sldSz cx="9144000" cy="5143500" type="screen16x9"/>
  <p:notesSz cx="6858000" cy="9144000"/>
  <p:embeddedFontLst>
    <p:embeddedFont>
      <p:font typeface="Encode Sans" panose="020B0604020202020204" charset="0"/>
      <p:regular r:id="rId24"/>
      <p:bold r:id="rId25"/>
    </p:embeddedFont>
    <p:embeddedFont>
      <p:font typeface="Encode Sans Light" panose="020B060402020202020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13" Type="http://schemas.openxmlformats.org/officeDocument/2006/relationships/slide" Target="slides/slide10.xml"/><Relationship Id="rId14" Type="http://schemas.openxmlformats.org/officeDocument/2006/relationships/slide" Target="slides/slide9.xml"/><Relationship Id="rId15" Type="http://schemas.openxmlformats.org/officeDocument/2006/relationships/slide" Target="slides/slide1.xml"/><Relationship Id="rId16" Type="http://schemas.openxmlformats.org/officeDocument/2006/relationships/slide" Target="slides/slide2.xml"/><Relationship Id="rId17" Type="http://schemas.openxmlformats.org/officeDocument/2006/relationships/slide" Target="slides/slide3.xml"/><Relationship Id="rId18" Type="http://schemas.openxmlformats.org/officeDocument/2006/relationships/slide" Target="slides/slide4.xml"/><Relationship Id="rId19" Type="http://schemas.openxmlformats.org/officeDocument/2006/relationships/slide" Target="slides/slide5.xml"/><Relationship Id="rId20" Type="http://schemas.openxmlformats.org/officeDocument/2006/relationships/slide" Target="slides/slide6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notesMaster" Target="notesMasters/notesMaster1.xml"/><Relationship Id="rId24" Type="http://schemas.openxmlformats.org/officeDocument/2006/relationships/font" Target="fonts/font1.fntdata"/><Relationship Id="rId25" Type="http://schemas.openxmlformats.org/officeDocument/2006/relationships/font" Target="fonts/font2.fntdata"/><Relationship Id="rId26" Type="http://schemas.openxmlformats.org/officeDocument/2006/relationships/font" Target="fonts/font3.fntdata"/><Relationship Id="rId27" Type="http://schemas.openxmlformats.org/officeDocument/2006/relationships/font" Target="fonts/font4.fntdata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1306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700"/>
              <a:buFont typeface="Encode Sans Light"/>
              <a:buNone/>
              <a:defRPr sz="37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2202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 sz="2800"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3" name="Google Shape;13;p2" title="skill-p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1951" y="302151"/>
            <a:ext cx="1200148" cy="1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43324" y="480966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title="BG-branco setas.png"/>
          <p:cNvPicPr preferRelativeResize="0"/>
          <p:nvPr/>
        </p:nvPicPr>
        <p:blipFill rotWithShape="1">
          <a:blip r:embed="rId2">
            <a:alphaModFix/>
          </a:blip>
          <a:srcRect l="367" r="34115"/>
          <a:stretch/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023325" y="2150850"/>
            <a:ext cx="70974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700"/>
              <a:buFont typeface="Encode Sans Light"/>
              <a:buNone/>
              <a:defRPr sz="3700">
                <a:solidFill>
                  <a:srgbClr val="3E138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3600"/>
              <a:buNone/>
              <a:defRPr sz="3600">
                <a:solidFill>
                  <a:srgbClr val="3E138F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9" name="Google Shape;19;p3" title="skill-p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51" y="302151"/>
            <a:ext cx="1200148" cy="1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3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00550" y="303825"/>
            <a:ext cx="4766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200"/>
              <a:buFont typeface="Encode Sans Light"/>
              <a:buNone/>
              <a:defRPr sz="32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2pPr>
            <a:lvl3pPr lvl="2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3pPr>
            <a:lvl4pPr lvl="3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4pPr>
            <a:lvl5pPr lvl="4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5pPr>
            <a:lvl6pPr lvl="5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6pPr>
            <a:lvl7pPr lvl="6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7pPr>
            <a:lvl8pPr lvl="7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8pPr>
            <a:lvl9pPr lvl="8">
              <a:spcBef>
                <a:spcPts val="0"/>
              </a:spcBef>
              <a:spcAft>
                <a:spcPts val="0"/>
              </a:spcAft>
              <a:buSzPts val="2300"/>
              <a:buNone/>
              <a:defRPr sz="23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00550" y="1011275"/>
            <a:ext cx="4766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Encode Sans Light"/>
              <a:buChar char="●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○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■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●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○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■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●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○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Encode Sans Light"/>
              <a:buChar char="■"/>
              <a:defRPr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25" name="Google Shape;25;p4" title="roxo gr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38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>
            <a:spLocks noGrp="1"/>
          </p:cNvSpPr>
          <p:nvPr>
            <p:ph type="pic" idx="2"/>
          </p:nvPr>
        </p:nvSpPr>
        <p:spPr>
          <a:xfrm>
            <a:off x="5361900" y="-50"/>
            <a:ext cx="3782100" cy="5143500"/>
          </a:xfrm>
          <a:prstGeom prst="rect">
            <a:avLst/>
          </a:prstGeom>
          <a:noFill/>
          <a:ln>
            <a:noFill/>
          </a:ln>
          <a:effectLst>
            <a:outerShdw blurRad="657225" dist="19050" dir="5400000" algn="bl" rotWithShape="0">
              <a:srgbClr val="000000">
                <a:alpha val="17000"/>
              </a:srgbClr>
            </a:outerShdw>
          </a:effectLst>
        </p:spPr>
      </p:sp>
      <p:pic>
        <p:nvPicPr>
          <p:cNvPr id="27" name="Google Shape;27;p4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 ExtraLight"/>
              <a:buChar char="●"/>
              <a:defRPr sz="14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●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●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Encode Sans ExtraLight"/>
              <a:buChar char="●"/>
              <a:defRPr sz="14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●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●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○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 ExtraLight"/>
              <a:buChar char="■"/>
              <a:defRPr sz="1200"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3" name="Google Shape;33;p5" title="roxo gr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4495099" y="481825"/>
            <a:ext cx="153800" cy="91695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5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38" name="Google Shape;38;p6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41379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E138F"/>
              </a:buClr>
              <a:buSzPts val="2800"/>
              <a:buFont typeface="Encode Sans ExtraLight"/>
              <a:buNone/>
              <a:defRPr>
                <a:solidFill>
                  <a:srgbClr val="3E138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●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○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■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●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○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■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●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○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Encode Sans Light"/>
              <a:buChar char="■"/>
              <a:defRPr sz="1200"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3" name="Google Shape;43;p7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584CFF"/>
              </a:buClr>
              <a:buSzPts val="4800"/>
              <a:buFont typeface="Encode Sans Light"/>
              <a:buNone/>
              <a:defRPr sz="4800">
                <a:solidFill>
                  <a:srgbClr val="584C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47" name="Google Shape;47;p8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9" title="roxo gr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Font typeface="Encode Sans Light"/>
              <a:buNone/>
              <a:defRPr sz="4200"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ncode Sans Light"/>
              <a:buNone/>
              <a:defRPr sz="2100"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54" name="Google Shape;54;p9" title="lockup pret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R Code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0" title="roxo grad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 flipH="1">
            <a:off x="3370837" y="-629662"/>
            <a:ext cx="2394250" cy="9152074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0"/>
          <p:cNvSpPr txBox="1">
            <a:spLocks noGrp="1"/>
          </p:cNvSpPr>
          <p:nvPr>
            <p:ph type="body" idx="1"/>
          </p:nvPr>
        </p:nvSpPr>
        <p:spPr>
          <a:xfrm>
            <a:off x="412550" y="313502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Light"/>
              <a:buNone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59" name="Google Shape;59;p10"/>
          <p:cNvSpPr/>
          <p:nvPr/>
        </p:nvSpPr>
        <p:spPr>
          <a:xfrm>
            <a:off x="7021400" y="3135025"/>
            <a:ext cx="1622700" cy="16227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2"/>
          </p:nvPr>
        </p:nvSpPr>
        <p:spPr>
          <a:xfrm>
            <a:off x="412550" y="3740125"/>
            <a:ext cx="5998800" cy="198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2921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3"/>
          </p:nvPr>
        </p:nvSpPr>
        <p:spPr>
          <a:xfrm>
            <a:off x="412550" y="391150"/>
            <a:ext cx="5998800" cy="2062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 u="sng">
                <a:solidFill>
                  <a:schemeClr val="dk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pic>
        <p:nvPicPr>
          <p:cNvPr id="62" name="Google Shape;62;p10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taque número roxo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C8B4FF"/>
              </a:buClr>
              <a:buSzPts val="12000"/>
              <a:buFont typeface="Encode Sans Light"/>
              <a:buNone/>
              <a:defRPr sz="12000">
                <a:solidFill>
                  <a:srgbClr val="C8B4FF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r>
              <a:t>xx%</a:t>
            </a:r>
          </a:p>
        </p:txBody>
      </p:sp>
      <p:sp>
        <p:nvSpPr>
          <p:cNvPr id="65" name="Google Shape;65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●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○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Encode Sans Light"/>
              <a:buChar char="■"/>
              <a:defRPr>
                <a:solidFill>
                  <a:schemeClr val="lt1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67" name="Google Shape;67;p11" title="lockup pret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ço + logo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70" name="Google Shape;70;p12" title="lockup bc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 + logo">
  <p:cSld name="BLANK_1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73" name="Google Shape;73;p13" title="lockup bc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+ vazio">
  <p:cSld name="SECTION_HEADER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449550" y="290950"/>
            <a:ext cx="8244900" cy="711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1080E"/>
              </a:buClr>
              <a:buSzPts val="3500"/>
              <a:buFont typeface="Encode Sans Light"/>
              <a:buNone/>
              <a:defRPr sz="3500">
                <a:solidFill>
                  <a:srgbClr val="01080E"/>
                </a:solidFill>
                <a:latin typeface="Encode Sans Light"/>
                <a:ea typeface="Encode Sans Light"/>
                <a:cs typeface="Encode Sans Light"/>
                <a:sym typeface="Encode Sans Light"/>
              </a:defRPr>
            </a:lvl9pPr>
          </a:lstStyle>
          <a:p>
            <a:endParaRPr/>
          </a:p>
        </p:txBody>
      </p:sp>
      <p:pic>
        <p:nvPicPr>
          <p:cNvPr id="76" name="Google Shape;76;p14" title="roxo gr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138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4" title="lockup bc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7">
          <p15:clr>
            <a:srgbClr val="E46962"/>
          </p15:clr>
        </p15:guide>
        <p15:guide id="2" orient="horz" pos="113">
          <p15:clr>
            <a:srgbClr val="E46962"/>
          </p15:clr>
        </p15:guide>
        <p15:guide id="3" orient="horz" pos="3127">
          <p15:clr>
            <a:srgbClr val="E46962"/>
          </p15:clr>
        </p15:guide>
        <p15:guide id="4" pos="5578">
          <p15:clr>
            <a:srgbClr val="E46962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- Sumário 2 1 1">
  <p:cSld name="SECTION_HEADER_2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l="39607" t="32601" r="40006" b="32601"/>
          <a:stretch/>
        </p:blipFill>
        <p:spPr>
          <a:xfrm>
            <a:off x="0" y="0"/>
            <a:ext cx="9143997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0" name="Google Shape;80;p15"/>
          <p:cNvGrpSpPr/>
          <p:nvPr/>
        </p:nvGrpSpPr>
        <p:grpSpPr>
          <a:xfrm>
            <a:off x="260438" y="196450"/>
            <a:ext cx="552450" cy="352425"/>
            <a:chOff x="2305813" y="1260063"/>
            <a:chExt cx="552450" cy="352425"/>
          </a:xfrm>
        </p:grpSpPr>
        <p:pic>
          <p:nvPicPr>
            <p:cNvPr id="81" name="Google Shape;81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2267713" y="1298163"/>
              <a:ext cx="352425" cy="276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2" name="Google Shape;82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2395538" y="1298163"/>
              <a:ext cx="352425" cy="2762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5400000">
              <a:off x="2543938" y="1298163"/>
              <a:ext cx="352425" cy="2762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4" name="Google Shape;84;p15" title="skill-pret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8401" y="302151"/>
            <a:ext cx="1200148" cy="166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5" title="lockup pret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54724" y="335013"/>
            <a:ext cx="1057352" cy="10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27">
          <p15:clr>
            <a:srgbClr val="E46962"/>
          </p15:clr>
        </p15:guide>
        <p15:guide id="2" orient="horz" pos="113">
          <p15:clr>
            <a:srgbClr val="E46962"/>
          </p15:clr>
        </p15:guide>
        <p15:guide id="3" orient="horz" pos="3127">
          <p15:clr>
            <a:srgbClr val="E46962"/>
          </p15:clr>
        </p15:guide>
        <p15:guide id="4" pos="5578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Como criar sua API Key</a:t>
            </a:r>
          </a:p>
          <a:p>
            <a:pPr/>
            <a:r>
              <a:t>Google AI Studio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Skills &amp; Go · AI Data Strategy</a:t>
            </a:r>
          </a:p>
          <a:p>
            <a:pPr/>
            <a:r>
              <a:t>Gemini (gratuito para comecar)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Para que serve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No projeto do curso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A API Key libera o modelo Gemini no notebook e no app</a:t>
            </a:r>
          </a:p>
          <a:p>
            <a:pPr/>
            <a:r>
              <a:t>Voce guarda a chave no arquivo .env (nunca no codigo)</a:t>
            </a:r>
          </a:p>
          <a:p>
            <a:pPr/>
            <a:r>
              <a:t>No curso usamos GEMINI_API_KEY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Antes de comecar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Tenha uma conta Google (a mesma do Gmail/Colab serve)</a:t>
            </a:r>
          </a:p>
          <a:p>
            <a:pPr/>
            <a:r>
              <a:t>Use o navegador logado nessa conta</a:t>
            </a:r>
          </a:p>
          <a:p>
            <a:pPr/>
            <a:r>
              <a:t>Separe 5 minutos. E rapido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Passo 1. Abra o AI Studio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Entre em: https://aistudio.google.com/apikey</a:t>
            </a:r>
          </a:p>
          <a:p>
            <a:pPr/>
            <a:r>
              <a:t>Se pedir login, use sua conta Google</a:t>
            </a:r>
          </a:p>
          <a:p>
            <a:pPr/>
            <a:r>
              <a:t>Aceite os termos se for a primeira vez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Passo 2. Crie a chave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Clique em Create API key (ou Criar chave de API)</a:t>
            </a:r>
          </a:p>
          <a:p>
            <a:pPr/>
            <a:r>
              <a:t>Escolha um projeto Google Cloud se pedir (pode criar um novo)</a:t>
            </a:r>
          </a:p>
          <a:p>
            <a:pPr/>
            <a:r>
              <a:t>Confirme a criacao</a:t>
            </a:r>
          </a:p>
          <a:p>
            <a:pPr/>
            <a:r>
              <a:t>A chave aparece na tela. Copie agora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A chave so aparece completa uma vez. Copie e guarde.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Passo 3. Salve no .env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No PC, abra a pasta do projeto do curso</a:t>
            </a:r>
          </a:p>
          <a:p>
            <a:pPr/>
            <a:r>
              <a:t>Crie (ou edite) o arquivo chamado .env</a:t>
            </a:r>
          </a:p>
          <a:p>
            <a:pPr/>
            <a:r>
              <a:t>Cole exatamente neste formato:</a:t>
            </a:r>
          </a:p>
          <a:p>
            <a:pPr/>
            <a:r>
              <a:t>GEMINI_API_KEY=cole_sua_chave_aqui</a:t>
            </a:r>
          </a:p>
          <a:p>
            <a:pPr/>
            <a:r>
              <a:t>Sem aspas. Sem espaco antes ou depois do =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Exemplo de .env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GEMINI_API_KEY=AIzaSyExemploNaoUseEstaChave123</a:t>
            </a:r>
          </a:p>
          <a:p>
            <a:pPr/>
          </a:p>
          <a:p>
            <a:pPr/>
            <a:r>
              <a:t>Dica: o arquivo .env nao vai para o Git</a:t>
            </a:r>
          </a:p>
          <a:p>
            <a:pPr/>
            <a:r>
              <a:t>Nao mande a chave no chat, e-mail ou print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Passo 4. Teste no curso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No Colab, rode a celula de upload do .env</a:t>
            </a:r>
          </a:p>
          <a:p>
            <a:pPr/>
            <a:r>
              <a:t>Depois rode a celula que carrega a API Key</a:t>
            </a:r>
          </a:p>
          <a:p>
            <a:pPr/>
            <a:r>
              <a:t>Se aparecer STATUS: OK, esta pronto</a:t>
            </a:r>
          </a:p>
          <a:p>
            <a:pPr/>
            <a:r>
              <a:t>Se der NOK, confira o nome da variavel e se a chave foi colada inteira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2"/>
          </p:nvPr>
        </p:nvSpPr>
        <p:spPr/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Problemas comuns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Erro 404 de modelo</a:t>
            </a:r>
          </a:p>
          <a:p>
            <a:pPr/>
            <a:r>
              <a:t>O notebook ja tenta modelos Gemini atuais</a:t>
            </a:r>
          </a:p>
          <a:p>
            <a:pPr/>
            <a:r>
              <a:t>Atualize o notebook se estiver desatualizado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pPr/>
            <a:r>
              <a:t>Key invalida</a:t>
            </a:r>
          </a:p>
          <a:p>
            <a:pPr/>
            <a:r>
              <a:t>Crie outra chave no AI Studio</a:t>
            </a:r>
          </a:p>
          <a:p>
            <a:pPr/>
            <a:r>
              <a:t>Substitua no .env e rode de novo o upload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t>Pronto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Google AI Studio · Gemini</a:t>
            </a:r>
          </a:p>
          <a:p>
            <a:pPr/>
            <a:r>
              <a:t>Skills &amp; Go · AI Data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9869A8D249384469D0ACD8BE0CC478B" ma:contentTypeVersion="14" ma:contentTypeDescription="Crie um novo documento." ma:contentTypeScope="" ma:versionID="1aad726f4150e17f694cf32cb17e96c4">
  <xsd:schema xmlns:xsd="http://www.w3.org/2001/XMLSchema" xmlns:xs="http://www.w3.org/2001/XMLSchema" xmlns:p="http://schemas.microsoft.com/office/2006/metadata/properties" xmlns:ns2="767a9651-6980-4c7e-8f40-8a27e32846e9" xmlns:ns3="3daa61be-8f7c-4773-ba4e-d2600ad8169c" targetNamespace="http://schemas.microsoft.com/office/2006/metadata/properties" ma:root="true" ma:fieldsID="5c6ee32a3d83df1520448c41573d0f06" ns2:_="" ns3:_="">
    <xsd:import namespace="767a9651-6980-4c7e-8f40-8a27e32846e9"/>
    <xsd:import namespace="3daa61be-8f7c-4773-ba4e-d2600ad8169c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DateTaken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_Flow_SignoffStatu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a9651-6980-4c7e-8f40-8a27e32846e9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Valor da ID do Documento" ma:description="O valor da ID do documento atribuída a este item." ma:indexed="true" ma:internalName="_dlc_DocId" ma:readOnly="true">
      <xsd:simpleType>
        <xsd:restriction base="dms:Text"/>
      </xsd:simpleType>
    </xsd:element>
    <xsd:element name="_dlc_DocIdUrl" ma:index="9" nillable="true" ma:displayName="ID do Documento" ma:description="Link permanente para este documento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21" nillable="true" ma:displayName="Taxonomy Catch All Column" ma:hidden="true" ma:list="{441a5c5f-7697-4a67-b2f8-633088ca778d}" ma:internalName="TaxCatchAll" ma:showField="CatchAllData" ma:web="767a9651-6980-4c7e-8f40-8a27e32846e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aa61be-8f7c-4773-ba4e-d2600ad81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e2398b20-2c76-408b-9565-673d41e594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23" nillable="true" ma:displayName="Status de liberação" ma:internalName="_x0024_Resources_x003a_core_x002c_Signoff_Status">
      <xsd:simpleType>
        <xsd:restriction base="dms:Text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3daa61be-8f7c-4773-ba4e-d2600ad8169c" xsi:nil="true"/>
    <lcf76f155ced4ddcb4097134ff3c332f xmlns="3daa61be-8f7c-4773-ba4e-d2600ad8169c">
      <Terms xmlns="http://schemas.microsoft.com/office/infopath/2007/PartnerControls"/>
    </lcf76f155ced4ddcb4097134ff3c332f>
    <TaxCatchAll xmlns="767a9651-6980-4c7e-8f40-8a27e32846e9" xsi:nil="true"/>
    <_dlc_DocId xmlns="767a9651-6980-4c7e-8f40-8a27e32846e9">E4E6N5HS35ZE-791084263-233942</_dlc_DocId>
    <_dlc_DocIdUrl xmlns="767a9651-6980-4c7e-8f40-8a27e32846e9">
      <Url>https://fiapcom.sharepoint.com/sites/CRIACAOALURA/_layouts/15/DocIdRedir.aspx?ID=E4E6N5HS35ZE-791084263-233942</Url>
      <Description>E4E6N5HS35ZE-791084263-233942</Description>
    </_dlc_DocIdUrl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6C315F1C-AB5C-4126-864A-46817202B0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67a9651-6980-4c7e-8f40-8a27e32846e9"/>
    <ds:schemaRef ds:uri="3daa61be-8f7c-4773-ba4e-d2600ad816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91A9C7-14D6-4502-9207-B264B9301A89}">
  <ds:schemaRefs>
    <ds:schemaRef ds:uri="http://schemas.microsoft.com/office/2006/metadata/properties"/>
    <ds:schemaRef ds:uri="http://schemas.microsoft.com/office/infopath/2007/PartnerControls"/>
    <ds:schemaRef ds:uri="3daa61be-8f7c-4773-ba4e-d2600ad8169c"/>
    <ds:schemaRef ds:uri="767a9651-6980-4c7e-8f40-8a27e32846e9"/>
  </ds:schemaRefs>
</ds:datastoreItem>
</file>

<file path=customXml/itemProps3.xml><?xml version="1.0" encoding="utf-8"?>
<ds:datastoreItem xmlns:ds="http://schemas.openxmlformats.org/officeDocument/2006/customXml" ds:itemID="{5766CC75-B821-4826-98DC-79F3DB5BEFFA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58DB166D-EC84-4D28-A8CE-64B70D496269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Apresentação na tela (16:9)</PresentationFormat>
  <Slides>17</Slides>
  <Notes>17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Simple Light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PALETA DE CORES</vt:lpstr>
      <vt:lpstr>FONTES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2026-06-08T14:58:09Z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0x010100F9869A8D249384469D0ACD8BE0CC478B</vt:lpwstr>
  </property>
  <property fmtid="{D5CDD505-2E9C-101B-9397-08002B2CF9AE}" pid="3" name="_dlc_DocIdItemGuid">
    <vt:lpwstr>48715d1f-ed18-4229-b704-7c520a8e91a2</vt:lpwstr>
  </property>
</Properties>
</file>