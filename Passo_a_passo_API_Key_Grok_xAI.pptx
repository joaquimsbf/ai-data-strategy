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5"/>
  </p:sldMasterIdLst>
  <p:notesMasterIdLst>
    <p:notesMasterId r:id="rId23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14"/>
    <p:sldId id="265" r:id="rId13"/>
    <p:sldId id="266" r:id="rId12"/>
    <p:sldId id="267" r:id="rId11"/>
  </p:sldIdLst>
  <p:sldSz cx="9144000" cy="5143500" type="screen16x9"/>
  <p:notesSz cx="6858000" cy="9144000"/>
  <p:embeddedFontLst>
    <p:embeddedFont>
      <p:font typeface="Encode Sans" panose="020B0604020202020204" charset="0"/>
      <p:regular r:id="rId24"/>
      <p:bold r:id="rId25"/>
    </p:embeddedFont>
    <p:embeddedFont>
      <p:font typeface="Encode Sans Light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1306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700"/>
              <a:buFont typeface="Encode Sans Light"/>
              <a:buNone/>
              <a:defRPr sz="37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2202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3" name="Google Shape;13;p2" title="skill-p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1951" y="302151"/>
            <a:ext cx="1200148" cy="1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 title="lockup 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3324" y="480966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title="BG-branco setas.png"/>
          <p:cNvPicPr preferRelativeResize="0"/>
          <p:nvPr/>
        </p:nvPicPr>
        <p:blipFill rotWithShape="1">
          <a:blip r:embed="rId2">
            <a:alphaModFix/>
          </a:blip>
          <a:srcRect l="367" r="34115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023325" y="2150850"/>
            <a:ext cx="7097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700"/>
              <a:buFont typeface="Encode Sans Light"/>
              <a:buNone/>
              <a:defRPr sz="3700">
                <a:solidFill>
                  <a:srgbClr val="3E138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9" name="Google Shape;19;p3" title="skill-p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51" y="302151"/>
            <a:ext cx="1200148" cy="1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lockup 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00550" y="303825"/>
            <a:ext cx="476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200"/>
              <a:buFont typeface="Encode Sans Light"/>
              <a:buNone/>
              <a:defRPr sz="32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00550" y="1011275"/>
            <a:ext cx="4766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Encode Sans Light"/>
              <a:buChar char="●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○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■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●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○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■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●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○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■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5" name="Google Shape;25;p4" title="roxo gr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3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>
            <a:spLocks noGrp="1"/>
          </p:cNvSpPr>
          <p:nvPr>
            <p:ph type="pic" idx="2"/>
          </p:nvPr>
        </p:nvSpPr>
        <p:spPr>
          <a:xfrm>
            <a:off x="5361900" y="-50"/>
            <a:ext cx="3782100" cy="5143500"/>
          </a:xfrm>
          <a:prstGeom prst="rect">
            <a:avLst/>
          </a:prstGeom>
          <a:noFill/>
          <a:ln>
            <a:noFill/>
          </a:ln>
          <a:effectLst>
            <a:outerShdw blurRad="657225" dist="19050" dir="5400000" algn="bl" rotWithShape="0">
              <a:srgbClr val="000000">
                <a:alpha val="17000"/>
              </a:srgbClr>
            </a:outerShdw>
          </a:effectLst>
        </p:spPr>
      </p:sp>
      <p:pic>
        <p:nvPicPr>
          <p:cNvPr id="27" name="Google Shape;27;p4" title="lockup 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 ExtraLight"/>
              <a:buChar char="●"/>
              <a:defRPr sz="14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●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●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 ExtraLight"/>
              <a:buChar char="●"/>
              <a:defRPr sz="14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●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●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3" name="Google Shape;33;p5" title="roxo gr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495099" y="481825"/>
            <a:ext cx="153800" cy="916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 title="lockup 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8" name="Google Shape;38;p6" title="lockup b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4137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●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○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■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●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○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■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●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○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■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3" name="Google Shape;43;p7" title="lockup b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7" name="Google Shape;47;p8" title="lockup b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9" title="roxo gr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54" name="Google Shape;54;p9" title="lockup pre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R Code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0" title="roxo gra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3370837" y="-629662"/>
            <a:ext cx="2394250" cy="91520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12550" y="313502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Light"/>
              <a:buNone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9" name="Google Shape;59;p10"/>
          <p:cNvSpPr/>
          <p:nvPr/>
        </p:nvSpPr>
        <p:spPr>
          <a:xfrm>
            <a:off x="7021400" y="3135025"/>
            <a:ext cx="1622700" cy="1622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2"/>
          </p:nvPr>
        </p:nvSpPr>
        <p:spPr>
          <a:xfrm>
            <a:off x="412550" y="3740125"/>
            <a:ext cx="5998800" cy="19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3"/>
          </p:nvPr>
        </p:nvSpPr>
        <p:spPr>
          <a:xfrm>
            <a:off x="412550" y="391150"/>
            <a:ext cx="5998800" cy="206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pic>
        <p:nvPicPr>
          <p:cNvPr id="62" name="Google Shape;62;p10" title="lockup b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taque número roxo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67" name="Google Shape;67;p11" title="lockup p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ço + logo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70" name="Google Shape;70;p12" title="lockup b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 + logo">
  <p:cSld name="BLANK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73" name="Google Shape;73;p13" title="lockup b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vazio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449550" y="290950"/>
            <a:ext cx="8244900" cy="711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pic>
        <p:nvPicPr>
          <p:cNvPr id="76" name="Google Shape;76;p14" title="roxo gr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38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lockup 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7">
          <p15:clr>
            <a:srgbClr val="E46962"/>
          </p15:clr>
        </p15:guide>
        <p15:guide id="2" orient="horz" pos="113">
          <p15:clr>
            <a:srgbClr val="E46962"/>
          </p15:clr>
        </p15:guide>
        <p15:guide id="3" orient="horz" pos="3127">
          <p15:clr>
            <a:srgbClr val="E46962"/>
          </p15:clr>
        </p15:guide>
        <p15:guide id="4" pos="557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Sumário 2 1 1">
  <p:cSld name="SECTION_HEADER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l="39607" t="32601" r="40006" b="32601"/>
          <a:stretch/>
        </p:blipFill>
        <p:spPr>
          <a:xfrm>
            <a:off x="0" y="0"/>
            <a:ext cx="9143997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15"/>
          <p:cNvGrpSpPr/>
          <p:nvPr/>
        </p:nvGrpSpPr>
        <p:grpSpPr>
          <a:xfrm>
            <a:off x="260438" y="196450"/>
            <a:ext cx="552450" cy="352425"/>
            <a:chOff x="2305813" y="1260063"/>
            <a:chExt cx="552450" cy="352425"/>
          </a:xfrm>
        </p:grpSpPr>
        <p:pic>
          <p:nvPicPr>
            <p:cNvPr id="81" name="Google Shape;81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2267713" y="1298163"/>
              <a:ext cx="352425" cy="276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2395538" y="1298163"/>
              <a:ext cx="352425" cy="276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2543938" y="1298163"/>
              <a:ext cx="352425" cy="276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" name="Google Shape;84;p15" title="skill-pre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8401" y="302151"/>
            <a:ext cx="1200148" cy="1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title="lockup pre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7">
          <p15:clr>
            <a:srgbClr val="E46962"/>
          </p15:clr>
        </p15:guide>
        <p15:guide id="2" orient="horz" pos="113">
          <p15:clr>
            <a:srgbClr val="E46962"/>
          </p15:clr>
        </p15:guide>
        <p15:guide id="3" orient="horz" pos="3127">
          <p15:clr>
            <a:srgbClr val="E46962"/>
          </p15:clr>
        </p15:guide>
        <p15:guide id="4" pos="5578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Como criar sua API Key</a:t>
            </a:r>
          </a:p>
          <a:p>
            <a:pPr/>
            <a:r>
              <a:t>Grok (xAI)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Skills &amp; Go · AI Data Strategy</a:t>
            </a:r>
          </a:p>
          <a:p>
            <a:pPr/>
            <a:r>
              <a:t>Creditos iniciais para testar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Antes de seguir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O que esperar do Grok na API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A API do Grok fica em console.x.ai (nao e o chat do X)</a:t>
            </a:r>
          </a:p>
          <a:p>
            <a:pPr/>
            <a:r>
              <a:t>Contas novas costumam ganhar creditos promocionais para testar</a:t>
            </a:r>
          </a:p>
          <a:p>
            <a:pPr/>
            <a:r>
              <a:t>Nao e um plano gratuito eterno. Quando o credito acaba, vira pago</a:t>
            </a:r>
          </a:p>
          <a:p>
            <a:pPr/>
            <a:r>
              <a:t>No curso, o caminho padrao continua sendo o Gemini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Antes de comecar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Tenha um e-mail valido (ou conta X, se preferir)</a:t>
            </a:r>
          </a:p>
          <a:p>
            <a:pPr/>
            <a:r>
              <a:t>Nao precisa de X Premium para a API</a:t>
            </a:r>
          </a:p>
          <a:p>
            <a:pPr/>
            <a:r>
              <a:t>Separe 10 minutos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Passo 1. Abra o console da xAI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Entre em: https://console.x.ai</a:t>
            </a:r>
          </a:p>
          <a:p>
            <a:pPr/>
            <a:r>
              <a:t>Clique em Sign up / Create account</a:t>
            </a:r>
          </a:p>
          <a:p>
            <a:pPr/>
            <a:r>
              <a:t>Cadastre com e-mail ou entre com a conta X</a:t>
            </a:r>
          </a:p>
          <a:p>
            <a:pPr/>
            <a:r>
              <a:t>Confirme o acesso ao painel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Passo 2. Confira os creditos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No painel, abra a area de Credits / Billing</a:t>
            </a:r>
          </a:p>
          <a:p>
            <a:pPr/>
            <a:r>
              <a:t>Veja se apareceu credito promocional na conta nova</a:t>
            </a:r>
          </a:p>
          <a:p>
            <a:pPr/>
            <a:r>
              <a:t>O valor e o prazo mudam conforme a promocao do momento</a:t>
            </a:r>
          </a:p>
          <a:p>
            <a:pPr/>
            <a:r>
              <a:t>Use esses creditos so para teste do curso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Passo 3. Crie a API Key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No menu, abra API Keys</a:t>
            </a:r>
          </a:p>
          <a:p>
            <a:pPr/>
            <a:r>
              <a:t>Clique em Create API Key / Create key</a:t>
            </a:r>
          </a:p>
          <a:p>
            <a:pPr/>
            <a:r>
              <a:t>De um nome simples, por exemplo: curso-alura</a:t>
            </a:r>
          </a:p>
          <a:p>
            <a:pPr/>
            <a:r>
              <a:t>Copie a chave na hora (costuma comecar com xai-)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Guarde a chave agora. Depois a tela nao mostra de novo.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Passo 4. Salve no .env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Na pasta do projeto, edite o arquivo .env</a:t>
            </a:r>
          </a:p>
          <a:p>
            <a:pPr/>
            <a:r>
              <a:t>Se for usar Grok no seu teste local, adicione:</a:t>
            </a:r>
          </a:p>
          <a:p>
            <a:pPr/>
            <a:r>
              <a:t>XAI_API_KEY=cole_sua_chave_aqui</a:t>
            </a:r>
          </a:p>
          <a:p>
            <a:pPr/>
            <a:r>
              <a:t>Sem aspas. Sem espaco em volta do =</a:t>
            </a:r>
          </a:p>
          <a:p>
            <a:pPr/>
            <a:r>
              <a:t>Nao compartilhe essa chave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Exemplo de .env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GEMINI_API_KEY=sua_chave_gemini</a:t>
            </a:r>
          </a:p>
          <a:p>
            <a:pPr/>
            <a:r>
              <a:t>XAI_API_KEY=xai-sua_chave_grok</a:t>
            </a:r>
          </a:p>
          <a:p>
            <a:pPr/>
          </a:p>
          <a:p>
            <a:pPr/>
            <a:r>
              <a:t>No notebook do curso, o fluxo oficial le GEMINI_API_KEY</a:t>
            </a:r>
          </a:p>
          <a:p>
            <a:pPr/>
            <a:r>
              <a:t>Grok fica como alternativa para quem quiser comparar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Gemini ou Grok neste curso?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Gemini (recomendado)</a:t>
            </a:r>
          </a:p>
          <a:p>
            <a:pPr/>
            <a:r>
              <a:t>Free tier estavel para a turma</a:t>
            </a:r>
          </a:p>
          <a:p>
            <a:pPr/>
            <a:r>
              <a:t>Ja esta no notebook e no app</a:t>
            </a:r>
          </a:p>
          <a:p>
            <a:pPr/>
            <a:r>
              <a:t>Menos atrito no Colab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Grok (opcional)</a:t>
            </a:r>
          </a:p>
          <a:p>
            <a:pPr/>
            <a:r>
              <a:t>Bom para comparar modelos</a:t>
            </a:r>
          </a:p>
          <a:p>
            <a:pPr/>
            <a:r>
              <a:t>Depende de credito promocional</a:t>
            </a:r>
          </a:p>
          <a:p>
            <a:pPr/>
            <a:r>
              <a:t>Pode pedir cartao depois que o credito acabar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Problemas comuns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Nao acho a tela de API Keys: use o menu lateral do console.x.ai</a:t>
            </a:r>
          </a:p>
          <a:p>
            <a:pPr/>
            <a:r>
              <a:t>Credito zerado: a API para de responder ate haver pagamento</a:t>
            </a:r>
          </a:p>
          <a:p>
            <a:pPr/>
            <a:r>
              <a:t>Key invalida: crie outra e atualize o .env</a:t>
            </a:r>
          </a:p>
          <a:p>
            <a:pPr/>
            <a:r>
              <a:t>Confusao com grok.com: o chat do site nao e a mesma coisa que a API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Pronto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Grok · xAI Console</a:t>
            </a:r>
          </a:p>
          <a:p>
            <a:pPr/>
            <a:r>
              <a:t>Skills &amp; Go · AI Data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9869A8D249384469D0ACD8BE0CC478B" ma:contentTypeVersion="14" ma:contentTypeDescription="Crie um novo documento." ma:contentTypeScope="" ma:versionID="1aad726f4150e17f694cf32cb17e96c4">
  <xsd:schema xmlns:xsd="http://www.w3.org/2001/XMLSchema" xmlns:xs="http://www.w3.org/2001/XMLSchema" xmlns:p="http://schemas.microsoft.com/office/2006/metadata/properties" xmlns:ns2="767a9651-6980-4c7e-8f40-8a27e32846e9" xmlns:ns3="3daa61be-8f7c-4773-ba4e-d2600ad8169c" targetNamespace="http://schemas.microsoft.com/office/2006/metadata/properties" ma:root="true" ma:fieldsID="5c6ee32a3d83df1520448c41573d0f06" ns2:_="" ns3:_="">
    <xsd:import namespace="767a9651-6980-4c7e-8f40-8a27e32846e9"/>
    <xsd:import namespace="3daa61be-8f7c-4773-ba4e-d2600ad8169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_Flow_SignoffStatu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a9651-6980-4c7e-8f40-8a27e32846e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or da ID do Documento" ma:description="O valor da ID do documento atribuída a este item." ma:indexed="true" ma:internalName="_dlc_DocId" ma:readOnly="true">
      <xsd:simpleType>
        <xsd:restriction base="dms:Text"/>
      </xsd:simpleType>
    </xsd:element>
    <xsd:element name="_dlc_DocIdUrl" ma:index="9" nillable="true" ma:displayName="ID do Documento" ma:description="Link permanente para este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1" nillable="true" ma:displayName="Taxonomy Catch All Column" ma:hidden="true" ma:list="{441a5c5f-7697-4a67-b2f8-633088ca778d}" ma:internalName="TaxCatchAll" ma:showField="CatchAllData" ma:web="767a9651-6980-4c7e-8f40-8a27e32846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a61be-8f7c-4773-ba4e-d2600ad81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tatus de liberação" ma:internalName="_x0024_Resources_x003a_core_x002c_Signoff_Status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3daa61be-8f7c-4773-ba4e-d2600ad8169c" xsi:nil="true"/>
    <lcf76f155ced4ddcb4097134ff3c332f xmlns="3daa61be-8f7c-4773-ba4e-d2600ad8169c">
      <Terms xmlns="http://schemas.microsoft.com/office/infopath/2007/PartnerControls"/>
    </lcf76f155ced4ddcb4097134ff3c332f>
    <TaxCatchAll xmlns="767a9651-6980-4c7e-8f40-8a27e32846e9" xsi:nil="true"/>
    <_dlc_DocId xmlns="767a9651-6980-4c7e-8f40-8a27e32846e9">E4E6N5HS35ZE-791084263-233942</_dlc_DocId>
    <_dlc_DocIdUrl xmlns="767a9651-6980-4c7e-8f40-8a27e32846e9">
      <Url>https://fiapcom.sharepoint.com/sites/CRIACAOALURA/_layouts/15/DocIdRedir.aspx?ID=E4E6N5HS35ZE-791084263-233942</Url>
      <Description>E4E6N5HS35ZE-791084263-233942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6C315F1C-AB5C-4126-864A-46817202B0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7a9651-6980-4c7e-8f40-8a27e32846e9"/>
    <ds:schemaRef ds:uri="3daa61be-8f7c-4773-ba4e-d2600ad816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91A9C7-14D6-4502-9207-B264B9301A89}">
  <ds:schemaRefs>
    <ds:schemaRef ds:uri="http://schemas.microsoft.com/office/2006/metadata/properties"/>
    <ds:schemaRef ds:uri="http://schemas.microsoft.com/office/infopath/2007/PartnerControls"/>
    <ds:schemaRef ds:uri="3daa61be-8f7c-4773-ba4e-d2600ad8169c"/>
    <ds:schemaRef ds:uri="767a9651-6980-4c7e-8f40-8a27e32846e9"/>
  </ds:schemaRefs>
</ds:datastoreItem>
</file>

<file path=customXml/itemProps3.xml><?xml version="1.0" encoding="utf-8"?>
<ds:datastoreItem xmlns:ds="http://schemas.openxmlformats.org/officeDocument/2006/customXml" ds:itemID="{5766CC75-B821-4826-98DC-79F3DB5BEFF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8DB166D-EC84-4D28-A8CE-64B70D496269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17</Slides>
  <Notes>17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PALETA DE CORES</vt:lpstr>
      <vt:lpstr>FONTES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2026-06-08T14:58:09Z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0x010100F9869A8D249384469D0ACD8BE0CC478B</vt:lpwstr>
  </property>
  <property fmtid="{D5CDD505-2E9C-101B-9397-08002B2CF9AE}" pid="3" name="_dlc_DocIdItemGuid">
    <vt:lpwstr>48715d1f-ed18-4229-b704-7c520a8e91a2</vt:lpwstr>
  </property>
</Properties>
</file>