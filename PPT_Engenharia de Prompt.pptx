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334" r:id="rId6"/>
    <p:sldId id="753" r:id="rId7"/>
    <p:sldId id="262" r:id="rId8"/>
    <p:sldId id="752" r:id="rId9"/>
    <p:sldId id="261" r:id="rId10"/>
    <p:sldId id="336" r:id="rId11"/>
    <p:sldId id="751" r:id="rId12"/>
    <p:sldId id="755" r:id="rId13"/>
    <p:sldId id="335" r:id="rId14"/>
    <p:sldId id="337" r:id="rId15"/>
    <p:sldId id="338" r:id="rId16"/>
    <p:sldId id="339" r:id="rId17"/>
    <p:sldId id="754" r:id="rId18"/>
    <p:sldId id="333" r:id="rId19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B6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76DF04-A8FF-434C-8CF3-CEC795020A7D}" v="8" dt="2025-11-11T20:37:40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1" d="100"/>
          <a:sy n="41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quim Da Silva Barraca Filho" userId="e61d974b-6d7c-49b0-8923-ac6972096804" providerId="ADAL" clId="{5F527FFD-477F-4E37-A0E9-7970DC21D70C}"/>
    <pc:docChg chg="undo custSel addSld modSld">
      <pc:chgData name="Joaquim Da Silva Barraca Filho" userId="e61d974b-6d7c-49b0-8923-ac6972096804" providerId="ADAL" clId="{5F527FFD-477F-4E37-A0E9-7970DC21D70C}" dt="2025-11-11T20:38:51.714" v="119" actId="14100"/>
      <pc:docMkLst>
        <pc:docMk/>
      </pc:docMkLst>
      <pc:sldChg chg="modSp mod">
        <pc:chgData name="Joaquim Da Silva Barraca Filho" userId="e61d974b-6d7c-49b0-8923-ac6972096804" providerId="ADAL" clId="{5F527FFD-477F-4E37-A0E9-7970DC21D70C}" dt="2025-11-11T20:21:03.059" v="21" actId="20577"/>
        <pc:sldMkLst>
          <pc:docMk/>
          <pc:sldMk cId="1540467228" sldId="335"/>
        </pc:sldMkLst>
        <pc:spChg chg="mod">
          <ac:chgData name="Joaquim Da Silva Barraca Filho" userId="e61d974b-6d7c-49b0-8923-ac6972096804" providerId="ADAL" clId="{5F527FFD-477F-4E37-A0E9-7970DC21D70C}" dt="2025-11-11T20:21:03.059" v="21" actId="20577"/>
          <ac:spMkLst>
            <pc:docMk/>
            <pc:sldMk cId="1540467228" sldId="335"/>
            <ac:spMk id="10" creationId="{5A03156B-ABD2-9888-80C6-41206C1F4F8A}"/>
          </ac:spMkLst>
        </pc:spChg>
      </pc:sldChg>
      <pc:sldChg chg="modSp mod">
        <pc:chgData name="Joaquim Da Silva Barraca Filho" userId="e61d974b-6d7c-49b0-8923-ac6972096804" providerId="ADAL" clId="{5F527FFD-477F-4E37-A0E9-7970DC21D70C}" dt="2025-11-11T20:38:36.220" v="118" actId="20577"/>
        <pc:sldMkLst>
          <pc:docMk/>
          <pc:sldMk cId="1521377431" sldId="751"/>
        </pc:sldMkLst>
        <pc:spChg chg="mod">
          <ac:chgData name="Joaquim Da Silva Barraca Filho" userId="e61d974b-6d7c-49b0-8923-ac6972096804" providerId="ADAL" clId="{5F527FFD-477F-4E37-A0E9-7970DC21D70C}" dt="2025-11-11T20:38:36.220" v="118" actId="20577"/>
          <ac:spMkLst>
            <pc:docMk/>
            <pc:sldMk cId="1521377431" sldId="751"/>
            <ac:spMk id="3" creationId="{13EF95C5-8CB4-6B52-08C8-7421E0F24AD4}"/>
          </ac:spMkLst>
        </pc:spChg>
        <pc:spChg chg="mod">
          <ac:chgData name="Joaquim Da Silva Barraca Filho" userId="e61d974b-6d7c-49b0-8923-ac6972096804" providerId="ADAL" clId="{5F527FFD-477F-4E37-A0E9-7970DC21D70C}" dt="2025-11-11T20:38:20.940" v="114" actId="20577"/>
          <ac:spMkLst>
            <pc:docMk/>
            <pc:sldMk cId="1521377431" sldId="751"/>
            <ac:spMk id="4" creationId="{B946B530-02D7-128B-9063-BADFDAD27C7D}"/>
          </ac:spMkLst>
        </pc:spChg>
      </pc:sldChg>
      <pc:sldChg chg="modSp add mod">
        <pc:chgData name="Joaquim Da Silva Barraca Filho" userId="e61d974b-6d7c-49b0-8923-ac6972096804" providerId="ADAL" clId="{5F527FFD-477F-4E37-A0E9-7970DC21D70C}" dt="2025-11-11T20:38:51.714" v="119" actId="14100"/>
        <pc:sldMkLst>
          <pc:docMk/>
          <pc:sldMk cId="1887595508" sldId="755"/>
        </pc:sldMkLst>
        <pc:spChg chg="mod">
          <ac:chgData name="Joaquim Da Silva Barraca Filho" userId="e61d974b-6d7c-49b0-8923-ac6972096804" providerId="ADAL" clId="{5F527FFD-477F-4E37-A0E9-7970DC21D70C}" dt="2025-11-11T20:38:51.714" v="119" actId="14100"/>
          <ac:spMkLst>
            <pc:docMk/>
            <pc:sldMk cId="1887595508" sldId="755"/>
            <ac:spMk id="3" creationId="{378A6869-0203-9289-E359-4CBFC336ECC5}"/>
          </ac:spMkLst>
        </pc:spChg>
        <pc:spChg chg="mod">
          <ac:chgData name="Joaquim Da Silva Barraca Filho" userId="e61d974b-6d7c-49b0-8923-ac6972096804" providerId="ADAL" clId="{5F527FFD-477F-4E37-A0E9-7970DC21D70C}" dt="2025-11-11T20:36:36.919" v="67" actId="20577"/>
          <ac:spMkLst>
            <pc:docMk/>
            <pc:sldMk cId="1887595508" sldId="755"/>
            <ac:spMk id="4" creationId="{0BD3E67D-AB64-B854-A0C8-7219607BF48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1439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AB10F-759E-D8D1-2088-483C70BAA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19CCE8-DAA6-5534-47F7-813047F7D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AAECA3-6DC3-7783-56A3-D676FBDBA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5DBDE-0C11-6E80-5121-BB731FB30E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96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4F8C-24CF-E129-C2C0-DC85C70B2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5D000-44C2-F1F3-D5D1-E9C0938E5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2901A-0932-ECF2-939D-E23BBB73A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7DAFD-30D1-D7E6-BD1F-33140FDECA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05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384B8-AF5E-9DFB-71E9-F39D9DB06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37C2C-41CE-8391-22D0-9AB3DFA74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15B9B3-82D8-CDA6-AFC4-3AA083FBC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D9F69-9026-11BD-1085-30E454590D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91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CFCEE-65E3-91B8-43D6-812AE6814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623F0-7102-07B2-E706-8F49345B6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D7A9B-D792-2AAA-6A24-A73DD9302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FC95D-A53A-A9EC-8F2C-66917CBC87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09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65FB2-AA1D-AF15-D140-06A6D351D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1C9E1F-C8E2-043C-270E-082580594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6E1EE-0DF2-D794-16F8-CE2DD08E0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7D242-3030-DF11-7579-1F4A19495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85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A6F15-496D-4E9D-D366-94A24A355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53675-1595-A513-7325-0FBFE037B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C134D-3D54-0CDA-6343-AB6D1ADCC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68592-C5DF-18DF-F7DE-47569032C5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738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8778E-E4C3-7EC2-6745-607996FD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179B8-FAE1-C097-E95C-8C55EBB7C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EB5CA-5C76-B949-2EA6-88C4168D1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9C0FF-36CB-655C-ECE6-89A14DBDA5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35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62CA-29FE-1812-ABCC-96B698B4B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CFF7E-2809-F282-47D6-B11DE763F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25E36-8831-E6BA-BF3D-ACA6543F1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0C8D8-4CAA-F60C-BE4D-EF60B92F6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91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1C318-DCD9-463D-FCFE-B59A0A85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DE585-9C57-679D-C086-FFBBE32D9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4C35D-A66B-2EBA-51D0-6707E62AC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39B98-D91C-82E6-B2DC-BCE9C22DC8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734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76A6C-F8CF-7481-8803-168658D9E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6A14C9-1A1D-CDCF-99AC-048368031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8122B-3584-A075-8677-C2FEF52A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F1452-010A-FAA0-AE46-152441FD15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304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957AD-B558-FB39-E7BE-A6D4A687E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0E201-0C7E-E9BB-E941-0C617EA9F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C5032-51A2-F784-973D-217F75B15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D77EC-C66D-5C55-51BD-A004BB467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732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92509-1976-FE50-5D4E-7A9513D0A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3A702F-666E-1062-26CB-6923FB7AF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2ED7CD-62AD-2002-E188-0DE9D537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7D35-4898-4438-AC90-5314193EC9B0}" type="datetimeFigureOut">
              <a:rPr lang="pt-BR" smtClean="0"/>
              <a:t>11/11/2025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14E995-A219-C4A8-7EB2-BB2F73C14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D22178-E828-F360-3AFF-395527AB7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89732-CC81-4AB1-AE0B-9B3385B1A6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7483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2EC6A369-9237-4171-A64A-3F9358D40EE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0"/>
            <a:ext cx="24387175" cy="1371778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pic>
        <p:nvPicPr>
          <p:cNvPr id="3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3652500"/>
            <a:ext cx="24387048" cy="63500"/>
          </a:xfrm>
          <a:prstGeom prst="rect">
            <a:avLst/>
          </a:prstGeom>
        </p:spPr>
      </p:pic>
      <p:pic>
        <p:nvPicPr>
          <p:cNvPr id="52" name="Image 50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9381" y="4800600"/>
            <a:ext cx="10300987" cy="2781300"/>
          </a:xfrm>
          <a:prstGeom prst="rect">
            <a:avLst/>
          </a:prstGeom>
        </p:spPr>
      </p:pic>
      <p:sp>
        <p:nvSpPr>
          <p:cNvPr id="53" name="Text 0"/>
          <p:cNvSpPr/>
          <p:nvPr/>
        </p:nvSpPr>
        <p:spPr>
          <a:xfrm>
            <a:off x="6515914" y="8496300"/>
            <a:ext cx="11355219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kern="0" spc="150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  <a:cs typeface="Gotham HTF Medium" pitchFamily="34" charset="-120"/>
              </a:rPr>
              <a:t>A MELHOR FACULDADE DE TECNOLOGIA DO BRASIL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67233" y="6666464"/>
            <a:ext cx="19852581" cy="155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400"/>
              </a:lnSpc>
              <a:buNone/>
            </a:pPr>
            <a:r>
              <a:rPr lang="en-US" sz="6300" kern="0" spc="315" dirty="0" err="1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  <a:cs typeface="Gotham HTF Book" pitchFamily="34" charset="-120"/>
              </a:rPr>
              <a:t>Técnicas</a:t>
            </a:r>
            <a:r>
              <a:rPr lang="en-US" sz="6300" kern="0" spc="315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  <a:cs typeface="Gotham HTF Book" pitchFamily="34" charset="-120"/>
              </a:rPr>
              <a:t> </a:t>
            </a:r>
            <a:r>
              <a:rPr lang="en-US" sz="6300" kern="0" spc="315" dirty="0" err="1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  <a:cs typeface="Gotham HTF Book" pitchFamily="34" charset="-120"/>
              </a:rPr>
              <a:t>Básicas</a:t>
            </a:r>
            <a:r>
              <a:rPr lang="en-US" sz="6300" kern="0" spc="315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  <a:cs typeface="Gotham HTF Book" pitchFamily="34" charset="-120"/>
              </a:rPr>
              <a:t> de Prompt</a:t>
            </a:r>
            <a:endParaRPr lang="en-US" sz="6300" dirty="0"/>
          </a:p>
        </p:txBody>
      </p:sp>
      <p:pic>
        <p:nvPicPr>
          <p:cNvPr id="4" name="Image 50" descr=" ">
            <a:extLst>
              <a:ext uri="{FF2B5EF4-FFF2-40B4-BE49-F238E27FC236}">
                <a16:creationId xmlns:a16="http://schemas.microsoft.com/office/drawing/2014/main" id="{3D4B3D8D-9CC5-4FD1-A912-3AEF75129B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86494" y="833718"/>
            <a:ext cx="3553685" cy="9595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98384" y="4818354"/>
            <a:ext cx="872176" cy="85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0" kern="0" spc="25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  <a:cs typeface="Gotham HTF Book" pitchFamily="34" charset="-120"/>
              </a:rPr>
              <a:t>1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905238" y="4660900"/>
            <a:ext cx="978022" cy="977900"/>
          </a:xfrm>
          <a:prstGeom prst="ellipse">
            <a:avLst/>
          </a:prstGeom>
          <a:noFill/>
          <a:ln w="50800">
            <a:solidFill>
              <a:srgbClr val="ED14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905238" y="6527800"/>
            <a:ext cx="5846964" cy="1325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50"/>
              </a:lnSpc>
            </a:pPr>
            <a:r>
              <a:rPr lang="pt-BR" sz="2500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</a:rPr>
              <a:t>Contexto – O que é um Prompt? Para que serve?</a:t>
            </a:r>
            <a:endParaRPr lang="en-US" sz="2500" dirty="0">
              <a:solidFill>
                <a:srgbClr val="ED145B">
                  <a:alpha val="100000"/>
                </a:srgbClr>
              </a:solidFill>
              <a:latin typeface="Gotham HTF Medium" pitchFamily="34" charset="0"/>
              <a:ea typeface="Gotham HTF Medium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05238" y="8001000"/>
            <a:ext cx="511874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Um prompt é a instrução que damos a um modelo de linguagem (IA) para que ele gere uma resposta. Ele funciona como a pergunta ou comando inicial que guia toda a interação. </a:t>
            </a:r>
          </a:p>
          <a:p>
            <a:pPr marL="0" indent="0" algn="l">
              <a:buNone/>
            </a:pPr>
            <a:endParaRPr lang="en-US" sz="2400" dirty="0">
              <a:solidFill>
                <a:srgbClr val="A2B6C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6787265" y="4826000"/>
            <a:ext cx="872176" cy="85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0" kern="0" spc="25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  <a:cs typeface="Gotham HTF Book" pitchFamily="34" charset="-120"/>
              </a:rPr>
              <a:t>3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16740692" y="4660900"/>
            <a:ext cx="978022" cy="977900"/>
          </a:xfrm>
          <a:prstGeom prst="ellipse">
            <a:avLst/>
          </a:prstGeom>
          <a:noFill/>
          <a:ln w="50800">
            <a:solidFill>
              <a:srgbClr val="ED14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6740692" y="6527800"/>
            <a:ext cx="5846964" cy="1325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50"/>
              </a:lnSpc>
            </a:pPr>
            <a:r>
              <a:rPr lang="pt-BR" sz="2500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</a:rPr>
              <a:t>Objetivo de Hoje:</a:t>
            </a:r>
          </a:p>
          <a:p>
            <a:pPr marL="0" indent="0" algn="l">
              <a:lnSpc>
                <a:spcPts val="3250"/>
              </a:lnSpc>
              <a:buNone/>
            </a:pP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6740692" y="8001000"/>
            <a:ext cx="511874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Ao final , estaremos aptos a: </a:t>
            </a:r>
          </a:p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Entender o papel de um prompt. </a:t>
            </a:r>
          </a:p>
          <a:p>
            <a:pPr lvl="0" fontAlgn="base"/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Identificar os quatro tipos básicos de técnicas de prompting. </a:t>
            </a:r>
          </a:p>
          <a:p>
            <a:pPr lvl="0" fontAlgn="base"/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Criar seus próprios prompts, estruturados e claros. </a:t>
            </a:r>
          </a:p>
          <a:p>
            <a:pPr lvl="0" fontAlgn="base"/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Avaliar se um prompt é bem definido ou precisa ser melhorado. </a:t>
            </a:r>
          </a:p>
          <a:p>
            <a:pPr marL="0" indent="0" algn="l">
              <a:buNone/>
            </a:pPr>
            <a:endParaRPr lang="en-US" sz="2400" dirty="0">
              <a:solidFill>
                <a:srgbClr val="A2B6C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369538" y="4806950"/>
            <a:ext cx="872176" cy="85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0" kern="0" spc="25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  <a:cs typeface="Gotham HTF Book" pitchFamily="34" charset="-120"/>
              </a:rPr>
              <a:t>2</a:t>
            </a:r>
            <a:endParaRPr lang="en-US" sz="5000" dirty="0"/>
          </a:p>
        </p:txBody>
      </p:sp>
      <p:sp>
        <p:nvSpPr>
          <p:cNvPr id="11" name="Shape 9"/>
          <p:cNvSpPr/>
          <p:nvPr/>
        </p:nvSpPr>
        <p:spPr>
          <a:xfrm>
            <a:off x="9322965" y="4660900"/>
            <a:ext cx="978022" cy="977900"/>
          </a:xfrm>
          <a:prstGeom prst="ellipse">
            <a:avLst/>
          </a:prstGeom>
          <a:noFill/>
          <a:ln w="50800">
            <a:solidFill>
              <a:srgbClr val="ED14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322965" y="6527800"/>
            <a:ext cx="5846964" cy="1325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50"/>
              </a:lnSpc>
            </a:pPr>
            <a:r>
              <a:rPr lang="pt-BR" sz="2500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</a:rPr>
              <a:t>Funções principais do prompt: </a:t>
            </a:r>
          </a:p>
          <a:p>
            <a:pPr marL="0" indent="0" algn="l">
              <a:lnSpc>
                <a:spcPts val="3250"/>
              </a:lnSpc>
              <a:buNone/>
            </a:pPr>
            <a:endParaRPr lang="en-US" sz="2500" dirty="0">
              <a:solidFill>
                <a:srgbClr val="ED145B">
                  <a:alpha val="100000"/>
                </a:srgbClr>
              </a:solidFill>
              <a:latin typeface="Gotham HTF Medium" pitchFamily="34" charset="0"/>
              <a:ea typeface="Gotham HTF Medium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322965" y="8001000"/>
            <a:ext cx="511874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Direcionar o comportamento da IA (quem ela deve ser, como responder). </a:t>
            </a:r>
          </a:p>
          <a:p>
            <a:pPr lvl="0" fontAlgn="base"/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Controlar o formato de saída (lista, JSON, texto formal, resumo). </a:t>
            </a:r>
          </a:p>
          <a:p>
            <a:pPr lvl="0" fontAlgn="base"/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Maximizar a qualidade e consistência das respostas. </a:t>
            </a:r>
          </a:p>
        </p:txBody>
      </p:sp>
      <p:pic>
        <p:nvPicPr>
          <p:cNvPr id="14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pic>
        <p:nvPicPr>
          <p:cNvPr id="15" name="Image 50" descr=" ">
            <a:extLst>
              <a:ext uri="{FF2B5EF4-FFF2-40B4-BE49-F238E27FC236}">
                <a16:creationId xmlns:a16="http://schemas.microsoft.com/office/drawing/2014/main" id="{2D396334-27FC-4572-99BF-03E1966A4C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05492" y="1068153"/>
            <a:ext cx="3553685" cy="9595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39109" y="2076450"/>
            <a:ext cx="872176" cy="85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0" kern="0" spc="25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  <a:cs typeface="Gotham HTF Book" pitchFamily="34" charset="-120"/>
              </a:rPr>
              <a:t>1</a:t>
            </a:r>
            <a:endParaRPr lang="en-US" sz="5000" dirty="0"/>
          </a:p>
        </p:txBody>
      </p:sp>
      <p:sp>
        <p:nvSpPr>
          <p:cNvPr id="4" name="Shape 1"/>
          <p:cNvSpPr/>
          <p:nvPr/>
        </p:nvSpPr>
        <p:spPr>
          <a:xfrm>
            <a:off x="1905238" y="1905000"/>
            <a:ext cx="978022" cy="977900"/>
          </a:xfrm>
          <a:prstGeom prst="ellipse">
            <a:avLst/>
          </a:prstGeom>
          <a:noFill/>
          <a:ln w="50800">
            <a:solidFill>
              <a:srgbClr val="ED14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905238" y="3263900"/>
            <a:ext cx="5846964" cy="1325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50"/>
              </a:lnSpc>
            </a:pPr>
            <a:r>
              <a:rPr lang="pt-BR" sz="2500" kern="0" spc="125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</a:rPr>
              <a:t>Zero-shot prompting</a:t>
            </a:r>
            <a:endParaRPr lang="en-US" sz="2500" kern="0" spc="125" dirty="0">
              <a:solidFill>
                <a:srgbClr val="ED145B">
                  <a:alpha val="100000"/>
                </a:srgbClr>
              </a:solidFill>
              <a:latin typeface="Gotham HTF Medium" pitchFamily="34" charset="0"/>
              <a:ea typeface="Gotham HTF Medium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1905238" y="4737100"/>
            <a:ext cx="511874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Definição: pedir diretamente a tarefa, sem exemplos prévios. Bom para atividades simples. </a:t>
            </a:r>
          </a:p>
          <a:p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Exemplo: </a:t>
            </a: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Resuma este texto em 3 pontos principais:</a:t>
            </a:r>
          </a:p>
          <a:p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"O Brasil é o maior país da América do Sul e possui a Amazônia. Sua economia é diversificada, baseada em agricultura, indústria e serviços. Além disso, é um dos maiores exportadores de commodities como soja, café e minério de ferro." </a:t>
            </a:r>
          </a:p>
          <a:p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Saída esperada: </a:t>
            </a:r>
          </a:p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Brasil é o maior país da América do Sul, com a Floresta Amazônica. </a:t>
            </a:r>
          </a:p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Economia diversificada. </a:t>
            </a:r>
          </a:p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Grande exportador de commodities. </a:t>
            </a:r>
          </a:p>
          <a:p>
            <a:pPr marL="0" indent="0" algn="l">
              <a:buNone/>
            </a:pPr>
            <a:endParaRPr lang="en-US" sz="2400" dirty="0">
              <a:solidFill>
                <a:srgbClr val="A2B6C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6787265" y="2070100"/>
            <a:ext cx="872176" cy="85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0" kern="0" spc="25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  <a:cs typeface="Gotham HTF Book" pitchFamily="34" charset="-120"/>
              </a:rPr>
              <a:t>3</a:t>
            </a:r>
            <a:endParaRPr lang="en-US" sz="5000" dirty="0"/>
          </a:p>
        </p:txBody>
      </p:sp>
      <p:sp>
        <p:nvSpPr>
          <p:cNvPr id="8" name="Shape 5"/>
          <p:cNvSpPr/>
          <p:nvPr/>
        </p:nvSpPr>
        <p:spPr>
          <a:xfrm>
            <a:off x="16740692" y="1905000"/>
            <a:ext cx="978022" cy="977900"/>
          </a:xfrm>
          <a:prstGeom prst="ellipse">
            <a:avLst/>
          </a:prstGeom>
          <a:noFill/>
          <a:ln w="50800">
            <a:solidFill>
              <a:srgbClr val="ED14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6740692" y="3263900"/>
            <a:ext cx="5846964" cy="1325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50"/>
              </a:lnSpc>
            </a:pPr>
            <a:r>
              <a:rPr lang="pt-BR" sz="2500" kern="0" spc="125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</a:rPr>
              <a:t>Chain-</a:t>
            </a:r>
            <a:r>
              <a:rPr lang="pt-BR" sz="2500" kern="0" spc="125" dirty="0" err="1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</a:rPr>
              <a:t>of</a:t>
            </a:r>
            <a:r>
              <a:rPr lang="pt-BR" sz="2500" kern="0" spc="125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</a:rPr>
              <a:t>-</a:t>
            </a:r>
            <a:r>
              <a:rPr lang="pt-BR" sz="2500" kern="0" spc="125" dirty="0" err="1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</a:rPr>
              <a:t>thought</a:t>
            </a:r>
            <a:r>
              <a:rPr lang="pt-BR" sz="2500" kern="0" spc="125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</a:rPr>
              <a:t> prompting </a:t>
            </a:r>
            <a:endParaRPr lang="en-US" sz="2500" kern="0" spc="125" dirty="0">
              <a:solidFill>
                <a:srgbClr val="ED145B">
                  <a:alpha val="100000"/>
                </a:srgbClr>
              </a:solidFill>
              <a:latin typeface="Gotham HTF Medium" pitchFamily="34" charset="0"/>
              <a:ea typeface="Gotham HTF Medium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6740692" y="4737100"/>
            <a:ext cx="511874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Definição: pedir que a IA explique seu raciocínio passo a passo. </a:t>
            </a:r>
          </a:p>
          <a:p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Exemplo: </a:t>
            </a:r>
          </a:p>
          <a:p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Resolva o problema: João tinha 12 maçãs, deu 3 para Maria e 2 para Pedro. Quantas maçãs sobraram? </a:t>
            </a: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Explique o raciocínio. </a:t>
            </a:r>
          </a:p>
          <a:p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Saída esperada: </a:t>
            </a:r>
          </a:p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João tinha 12 maçãs. </a:t>
            </a:r>
          </a:p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Deu 3 → sobraram 9. </a:t>
            </a:r>
          </a:p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Deu mais 2 → sobraram 7. </a:t>
            </a:r>
          </a:p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Resposta final: 7 maçãs. </a:t>
            </a:r>
          </a:p>
          <a:p>
            <a:pPr marL="0" indent="0" algn="l">
              <a:buNone/>
            </a:pPr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369538" y="2051050"/>
            <a:ext cx="872176" cy="85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0" kern="0" spc="25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  <a:cs typeface="Gotham HTF Book" pitchFamily="34" charset="-120"/>
              </a:rPr>
              <a:t>2</a:t>
            </a:r>
            <a:endParaRPr lang="en-US" sz="5000" dirty="0"/>
          </a:p>
        </p:txBody>
      </p:sp>
      <p:sp>
        <p:nvSpPr>
          <p:cNvPr id="12" name="Shape 9"/>
          <p:cNvSpPr/>
          <p:nvPr/>
        </p:nvSpPr>
        <p:spPr>
          <a:xfrm>
            <a:off x="9322965" y="1905000"/>
            <a:ext cx="978022" cy="977900"/>
          </a:xfrm>
          <a:prstGeom prst="ellipse">
            <a:avLst/>
          </a:prstGeom>
          <a:noFill/>
          <a:ln w="50800">
            <a:solidFill>
              <a:srgbClr val="ED14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9322965" y="3263900"/>
            <a:ext cx="5846964" cy="1325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50"/>
              </a:lnSpc>
            </a:pPr>
            <a:r>
              <a:rPr lang="en-US" sz="2500" kern="0" spc="125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  <a:cs typeface="Gotham HTF Medium" pitchFamily="34" charset="-120"/>
              </a:rPr>
              <a:t> </a:t>
            </a:r>
            <a:r>
              <a:rPr lang="pt-BR" sz="2500" kern="0" spc="125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</a:rPr>
              <a:t>Few-shot prompting </a:t>
            </a:r>
            <a:endParaRPr lang="en-US" sz="2500" kern="0" spc="125" dirty="0">
              <a:solidFill>
                <a:srgbClr val="ED145B">
                  <a:alpha val="100000"/>
                </a:srgbClr>
              </a:solidFill>
              <a:latin typeface="Gotham HTF Medium" pitchFamily="34" charset="0"/>
              <a:ea typeface="Gotham HTF Medium" pitchFamily="34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322965" y="4737100"/>
            <a:ext cx="511874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Definição: usar exemplos de entrada e saída para ensinar o padrão desejado. </a:t>
            </a: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Exemplo: </a:t>
            </a:r>
          </a:p>
          <a:p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Exemplo 1: Entrada: "Cachorro" → Saída: ["Animal doméstico", "Leal", "Companhia"] </a:t>
            </a:r>
          </a:p>
          <a:p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Exemplo 2: </a:t>
            </a: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Entrada: "Gato" → Saída: ["Animal doméstico", "Independente", "Observador"] </a:t>
            </a:r>
          </a:p>
          <a:p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Agora faça com: Entrada: "Cavalo" </a:t>
            </a: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Saída esperada: </a:t>
            </a:r>
          </a:p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Animal doméstico e de trabalho </a:t>
            </a:r>
          </a:p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Forte </a:t>
            </a:r>
          </a:p>
          <a:p>
            <a:pPr lvl="0" fontAlgn="base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Veloz 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  <a:cs typeface="Roboto Regular" pitchFamily="34" charset="-120"/>
              </a:rPr>
              <a:t> </a:t>
            </a:r>
            <a:endParaRPr lang="en-US" sz="2400" dirty="0">
              <a:solidFill>
                <a:srgbClr val="A2B6C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E8995-076F-DFC6-81FB-4F513AB7E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1A2D5B4D-68BE-D860-5B41-3A0105CFD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634E232-F4CD-4C68-3684-6D8E05225BC4}"/>
              </a:ext>
            </a:extLst>
          </p:cNvPr>
          <p:cNvSpPr/>
          <p:nvPr/>
        </p:nvSpPr>
        <p:spPr>
          <a:xfrm>
            <a:off x="1939109" y="2076450"/>
            <a:ext cx="872176" cy="85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0" kern="0" spc="25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4</a:t>
            </a:r>
            <a:endParaRPr lang="en-US" sz="50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074B1E1-C354-8040-5819-5C86A4BFAFE0}"/>
              </a:ext>
            </a:extLst>
          </p:cNvPr>
          <p:cNvSpPr/>
          <p:nvPr/>
        </p:nvSpPr>
        <p:spPr>
          <a:xfrm>
            <a:off x="1905238" y="1905000"/>
            <a:ext cx="978022" cy="977900"/>
          </a:xfrm>
          <a:prstGeom prst="ellipse">
            <a:avLst/>
          </a:prstGeom>
          <a:noFill/>
          <a:ln w="50800">
            <a:solidFill>
              <a:srgbClr val="ED14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108722C-125E-DCAD-AE6C-B1AA80CB1FE5}"/>
              </a:ext>
            </a:extLst>
          </p:cNvPr>
          <p:cNvSpPr/>
          <p:nvPr/>
        </p:nvSpPr>
        <p:spPr>
          <a:xfrm>
            <a:off x="1905238" y="3263900"/>
            <a:ext cx="5846964" cy="1325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50"/>
              </a:lnSpc>
            </a:pPr>
            <a:r>
              <a:rPr lang="pt-BR" sz="2500" kern="0" spc="125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</a:rPr>
              <a:t>Role prompting</a:t>
            </a:r>
            <a:endParaRPr lang="en-US" sz="2500" kern="0" spc="125" dirty="0">
              <a:solidFill>
                <a:srgbClr val="ED145B">
                  <a:alpha val="100000"/>
                </a:srgbClr>
              </a:solidFill>
              <a:latin typeface="Gotham HTF Medium" pitchFamily="34" charset="0"/>
              <a:ea typeface="Gotham HTF Medium" pitchFamily="34" charset="-122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051326-1C83-E97E-6BC0-10EF5EEDF71C}"/>
              </a:ext>
            </a:extLst>
          </p:cNvPr>
          <p:cNvSpPr/>
          <p:nvPr/>
        </p:nvSpPr>
        <p:spPr>
          <a:xfrm>
            <a:off x="1905238" y="4737100"/>
            <a:ext cx="511874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Definição: Atribuir um papel/persona à IA</a:t>
            </a:r>
          </a:p>
          <a:p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Exemplo:</a:t>
            </a: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"Você é um professor de biologia. </a:t>
            </a: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Explique fotossíntese para ensino médio </a:t>
            </a: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em 5 frases: definição, etapas, importância."</a:t>
            </a:r>
          </a:p>
          <a:p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Saída esperada:</a:t>
            </a: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Resposta didática, adequada ao nível do aluno,</a:t>
            </a: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estruturada e objetiva.</a:t>
            </a:r>
            <a:endParaRPr lang="en-US" sz="2400" dirty="0">
              <a:solidFill>
                <a:srgbClr val="A2B6C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707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17F47-ABB4-385B-C9E9-69A7949AF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BE46730B-CDFF-3104-913A-DFA8CDBC1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C9873A4-4A75-A961-45F9-CB8C954F1CDE}"/>
              </a:ext>
            </a:extLst>
          </p:cNvPr>
          <p:cNvSpPr/>
          <p:nvPr/>
        </p:nvSpPr>
        <p:spPr>
          <a:xfrm>
            <a:off x="1457368" y="1529832"/>
            <a:ext cx="15788073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400"/>
              </a:lnSpc>
            </a:pPr>
            <a:r>
              <a:rPr lang="pt-BR" sz="6300" kern="0" spc="315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ERROS COMUNS EM PROMPT</a:t>
            </a:r>
            <a:endParaRPr lang="en-US" sz="6300" kern="0" spc="315" dirty="0">
              <a:solidFill>
                <a:srgbClr val="ED145B">
                  <a:alpha val="100000"/>
                </a:srgbClr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958E113-E19D-FA6D-C846-9B4740F07DBD}"/>
              </a:ext>
            </a:extLst>
          </p:cNvPr>
          <p:cNvSpPr/>
          <p:nvPr/>
        </p:nvSpPr>
        <p:spPr>
          <a:xfrm>
            <a:off x="1681303" y="2669722"/>
            <a:ext cx="12777797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fontAlgn="base"/>
            <a:endParaRPr lang="pt-BR" sz="6300" kern="0" spc="315" dirty="0">
              <a:solidFill>
                <a:srgbClr val="ED145B">
                  <a:alpha val="100000"/>
                </a:srgbClr>
              </a:solidFill>
              <a:latin typeface="Gotham HTF Book" pitchFamily="34" charset="0"/>
              <a:ea typeface="Gotham HTF Book" pitchFamily="34" charset="-122"/>
            </a:endParaRP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1. Ser vago demais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  Ruim: "Fale sobre carros"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  Bom: "Liste 5 vantagens de carros elétricos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vs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combustão"</a:t>
            </a:r>
          </a:p>
          <a:p>
            <a:pPr lvl="0" fontAlgn="base"/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2. Não especificar formato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  Ruim: "Me dê informações sobre vendas"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  Bom: "Gere tabela com: mês, vendas, crescimento%"</a:t>
            </a:r>
          </a:p>
          <a:p>
            <a:pPr lvl="0" fontAlgn="base"/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3. Misturar múltiplos objetivos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  Ruim: "Analise vendas E crie relatório E preveja futuro"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  Bom: Divida em 3 prompts separados</a:t>
            </a:r>
          </a:p>
          <a:p>
            <a:pPr lvl="0" fontAlgn="base"/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4. Não dar contexto suficiente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  Ruim: "Está correto?"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  Bom: "Este código Python está correto? [código]"</a:t>
            </a:r>
          </a:p>
        </p:txBody>
      </p:sp>
      <p:pic>
        <p:nvPicPr>
          <p:cNvPr id="6" name="Image 50" descr=" ">
            <a:extLst>
              <a:ext uri="{FF2B5EF4-FFF2-40B4-BE49-F238E27FC236}">
                <a16:creationId xmlns:a16="http://schemas.microsoft.com/office/drawing/2014/main" id="{A77011EB-F728-7312-6AE3-88E419C1E1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86494" y="833718"/>
            <a:ext cx="3553685" cy="95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66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7368" y="1125894"/>
            <a:ext cx="15788073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400"/>
              </a:lnSpc>
            </a:pPr>
            <a:r>
              <a:rPr lang="pt-BR" sz="6300" kern="0" spc="315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Anatomia de um Prompt Ideal</a:t>
            </a:r>
            <a:endParaRPr lang="en-US" sz="6300" kern="0" spc="315" dirty="0">
              <a:solidFill>
                <a:srgbClr val="ED145B">
                  <a:alpha val="100000"/>
                </a:srgbClr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1457368" y="2459394"/>
            <a:ext cx="12777797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fontAlgn="base"/>
            <a:r>
              <a:rPr lang="pt-BR" sz="6300" kern="0" spc="315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Framework CLEAR</a:t>
            </a:r>
          </a:p>
          <a:p>
            <a:pPr lvl="0" fontAlgn="base"/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C - Contexto: Qual a situação?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L - Limitações: O que NÃO fazer?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E - Exemplo: Mostre o padrão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A - Ação: O que fazer especificamente?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R - Resposta: Formato esperado</a:t>
            </a:r>
          </a:p>
          <a:p>
            <a:pPr lvl="0" fontAlgn="base"/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Exemplo: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Contexto: Você é analista de dados do DETRAN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Limitações: Não invente dados, use apenas o fornecido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Exemplo: "Placa ABC1234 tem 3 multas"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Ação: Analise as multas da placa XYZ5678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Resposta: JSON com {placa,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total_multas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,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valor_total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}</a:t>
            </a:r>
            <a:endParaRPr lang="en-US" sz="3000" dirty="0">
              <a:solidFill>
                <a:srgbClr val="A2B6C1"/>
              </a:solidFill>
            </a:endParaRPr>
          </a:p>
        </p:txBody>
      </p:sp>
      <p:pic>
        <p:nvPicPr>
          <p:cNvPr id="6" name="Image 50" descr=" ">
            <a:extLst>
              <a:ext uri="{FF2B5EF4-FFF2-40B4-BE49-F238E27FC236}">
                <a16:creationId xmlns:a16="http://schemas.microsoft.com/office/drawing/2014/main" id="{D0D9EEF4-E4D2-450C-901D-16B85E47B0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86494" y="833718"/>
            <a:ext cx="3553685" cy="9595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089CD-51D9-A3BA-7717-44867F1EA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10FB9F19-4F84-3206-BD25-32D2D7DDD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5ACA9A5-90E4-6782-25AA-5ACB8F913DCE}"/>
              </a:ext>
            </a:extLst>
          </p:cNvPr>
          <p:cNvSpPr/>
          <p:nvPr/>
        </p:nvSpPr>
        <p:spPr>
          <a:xfrm>
            <a:off x="1457368" y="3048000"/>
            <a:ext cx="15788073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400"/>
              </a:lnSpc>
            </a:pPr>
            <a:r>
              <a:rPr lang="pt-BR" sz="6300" kern="0" spc="315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RESUMO</a:t>
            </a:r>
            <a:endParaRPr lang="en-US" sz="6300" kern="0" spc="315" dirty="0">
              <a:solidFill>
                <a:srgbClr val="ED145B">
                  <a:alpha val="100000"/>
                </a:srgbClr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CD5D75D-A1FB-E0AB-C483-C29A2DC8C1AF}"/>
              </a:ext>
            </a:extLst>
          </p:cNvPr>
          <p:cNvSpPr/>
          <p:nvPr/>
        </p:nvSpPr>
        <p:spPr>
          <a:xfrm>
            <a:off x="1681303" y="4591050"/>
            <a:ext cx="12777797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Prompt é a instrução dada à IA para guiar suas respostas. </a:t>
            </a:r>
          </a:p>
          <a:p>
            <a:pPr lvl="0" fontAlgn="base"/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Existem quatro técnicas básicas: Zero-shot,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Few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-shot, Chain-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of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-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tought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e Role prompting. </a:t>
            </a:r>
          </a:p>
          <a:p>
            <a:pPr lvl="0" fontAlgn="base"/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Um prompt ideal tem papel, contexto, tarefa, formato de saída e critérios.</a:t>
            </a:r>
          </a:p>
          <a:p>
            <a:pPr lvl="0" fontAlgn="base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Com prática, é possível transformar interações vagas em respostas consistentes, objetivas e úteis. </a:t>
            </a:r>
          </a:p>
          <a:p>
            <a:pPr marL="0" indent="0" algn="l">
              <a:buNone/>
            </a:pPr>
            <a:endParaRPr lang="en-US" sz="3000" dirty="0">
              <a:solidFill>
                <a:srgbClr val="A2B6C1"/>
              </a:solidFill>
            </a:endParaRPr>
          </a:p>
        </p:txBody>
      </p:sp>
      <p:pic>
        <p:nvPicPr>
          <p:cNvPr id="6" name="Image 50" descr=" ">
            <a:extLst>
              <a:ext uri="{FF2B5EF4-FFF2-40B4-BE49-F238E27FC236}">
                <a16:creationId xmlns:a16="http://schemas.microsoft.com/office/drawing/2014/main" id="{B4333AF7-18DB-64D8-0DBB-E48A65AC03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86494" y="833718"/>
            <a:ext cx="3553685" cy="95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62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pic>
        <p:nvPicPr>
          <p:cNvPr id="3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5238" y="9118598"/>
            <a:ext cx="20576572" cy="254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032254" y="9029700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1"/>
          <p:cNvSpPr/>
          <p:nvPr/>
        </p:nvSpPr>
        <p:spPr>
          <a:xfrm>
            <a:off x="5295226" y="8997948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2"/>
          <p:cNvSpPr/>
          <p:nvPr/>
        </p:nvSpPr>
        <p:spPr>
          <a:xfrm>
            <a:off x="9005425" y="8997948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3"/>
          <p:cNvSpPr/>
          <p:nvPr/>
        </p:nvSpPr>
        <p:spPr>
          <a:xfrm>
            <a:off x="13792300" y="9010649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4"/>
          <p:cNvSpPr/>
          <p:nvPr/>
        </p:nvSpPr>
        <p:spPr>
          <a:xfrm>
            <a:off x="22204619" y="8997948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1662283" y="811331"/>
            <a:ext cx="18136541" cy="1346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630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BACKGROUND TÉCNICO DE LLM </a:t>
            </a:r>
            <a:r>
              <a:rPr lang="pt-BR" sz="400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(D</a:t>
            </a:r>
            <a:r>
              <a:rPr lang="en-US" sz="4000" dirty="0" err="1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epois</a:t>
            </a:r>
            <a:r>
              <a:rPr lang="en-US" sz="400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 do “Enter”)</a:t>
            </a:r>
          </a:p>
          <a:p>
            <a:endParaRPr lang="pt-BR" sz="6300" dirty="0">
              <a:solidFill>
                <a:srgbClr val="ED145B">
                  <a:alpha val="100000"/>
                </a:srgbClr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537623" y="9893298"/>
            <a:ext cx="4509064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ETAPA 2: EMBEDDINGS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Números viram vetores: cada palavra = 12.288 números representando significado</a:t>
            </a:r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36692" y="6213152"/>
            <a:ext cx="4204225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  <a:cs typeface="Roboto Regular" pitchFamily="34" charset="-120"/>
              </a:rPr>
              <a:t>E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TAPA 1: TOKENIZAÇÃO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Texto vira números: “Gato" → [8756, 9234]</a:t>
            </a:r>
            <a:r>
              <a:rPr lang="en-US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.</a:t>
            </a:r>
          </a:p>
        </p:txBody>
      </p:sp>
      <p:sp>
        <p:nvSpPr>
          <p:cNvPr id="12" name="Text 8"/>
          <p:cNvSpPr/>
          <p:nvPr/>
        </p:nvSpPr>
        <p:spPr>
          <a:xfrm>
            <a:off x="11838371" y="10110878"/>
            <a:ext cx="4534467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ETAPA 4: 96 CAMADAS DE PROCESSAMENTO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Cada palavra passa por 96 camadas neurais, transformando significado</a:t>
            </a:r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989299" y="5491970"/>
            <a:ext cx="4204225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ETAPA 3: SELF-ATTENTION (O Cérebro)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Palavras "conversam" entre si para entender contexto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Exemplo: Em "O gato preto bebeu leite", self-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attention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identifica que "gato" é quem bebeu</a:t>
            </a:r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6026454" y="5632449"/>
            <a:ext cx="3772371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ETAPA 5: PROBABILIDADES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Calcula probabilidade de 50.000+ palavras possíveis serem a próxima</a:t>
            </a:r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941226" y="8661400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</a:t>
            </a:r>
            <a:endParaRPr lang="en-US" sz="2500" dirty="0"/>
          </a:p>
        </p:txBody>
      </p:sp>
      <p:sp>
        <p:nvSpPr>
          <p:cNvPr id="16" name="Text 12"/>
          <p:cNvSpPr/>
          <p:nvPr/>
        </p:nvSpPr>
        <p:spPr>
          <a:xfrm>
            <a:off x="5223250" y="9499341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</a:t>
            </a:r>
            <a:endParaRPr lang="en-US" sz="2500" dirty="0"/>
          </a:p>
        </p:txBody>
      </p:sp>
      <p:sp>
        <p:nvSpPr>
          <p:cNvPr id="17" name="Text 13"/>
          <p:cNvSpPr/>
          <p:nvPr/>
        </p:nvSpPr>
        <p:spPr>
          <a:xfrm>
            <a:off x="8933449" y="8625415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</a:t>
            </a:r>
            <a:endParaRPr lang="en-US" sz="2500" dirty="0"/>
          </a:p>
        </p:txBody>
      </p:sp>
      <p:sp>
        <p:nvSpPr>
          <p:cNvPr id="18" name="Text 14"/>
          <p:cNvSpPr/>
          <p:nvPr/>
        </p:nvSpPr>
        <p:spPr>
          <a:xfrm>
            <a:off x="13720324" y="9497134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</a:t>
            </a:r>
            <a:endParaRPr lang="en-US" sz="2500" dirty="0"/>
          </a:p>
        </p:txBody>
      </p:sp>
      <p:sp>
        <p:nvSpPr>
          <p:cNvPr id="19" name="Text 15"/>
          <p:cNvSpPr/>
          <p:nvPr/>
        </p:nvSpPr>
        <p:spPr>
          <a:xfrm>
            <a:off x="17599334" y="8661400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</a:t>
            </a:r>
            <a:endParaRPr lang="en-US" sz="25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AD625D60-D1BC-4289-5666-C479D70A0314}"/>
              </a:ext>
            </a:extLst>
          </p:cNvPr>
          <p:cNvSpPr/>
          <p:nvPr/>
        </p:nvSpPr>
        <p:spPr>
          <a:xfrm>
            <a:off x="20468734" y="9777614"/>
            <a:ext cx="3772371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ETAPA 6: GERAÇÃO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Escolhe palavra mais provável → adiciona → repete até completar resposta</a:t>
            </a:r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A6D8126A-0F3E-C7E2-2FF7-9828F77E9E15}"/>
              </a:ext>
            </a:extLst>
          </p:cNvPr>
          <p:cNvSpPr/>
          <p:nvPr/>
        </p:nvSpPr>
        <p:spPr>
          <a:xfrm>
            <a:off x="17671310" y="8997948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6CB37D57-1E92-9DA9-2915-EB5FE7C664BB}"/>
              </a:ext>
            </a:extLst>
          </p:cNvPr>
          <p:cNvSpPr/>
          <p:nvPr/>
        </p:nvSpPr>
        <p:spPr>
          <a:xfrm>
            <a:off x="22162280" y="9411561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</a:rPr>
              <a:t>6</a:t>
            </a:r>
            <a:endParaRPr lang="en-US" sz="25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ACBB96BE-816F-A4F5-CA9C-99959B267E85}"/>
              </a:ext>
            </a:extLst>
          </p:cNvPr>
          <p:cNvSpPr/>
          <p:nvPr/>
        </p:nvSpPr>
        <p:spPr>
          <a:xfrm>
            <a:off x="7082736" y="2827775"/>
            <a:ext cx="12130016" cy="1346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630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Você digita: "O gato preto bebeu leite”</a:t>
            </a:r>
            <a:endParaRPr lang="en-US" sz="6300" dirty="0">
              <a:solidFill>
                <a:srgbClr val="ED145B">
                  <a:alpha val="100000"/>
                </a:srgbClr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58022C43-5739-18F7-2BA5-3AB38B8C9191}"/>
              </a:ext>
            </a:extLst>
          </p:cNvPr>
          <p:cNvSpPr/>
          <p:nvPr/>
        </p:nvSpPr>
        <p:spPr>
          <a:xfrm>
            <a:off x="16026454" y="12809125"/>
            <a:ext cx="10611811" cy="121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Tempo: 1-3 segundos | Operações: 11.6 trilhões de cálculos!</a:t>
            </a:r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CC4D-1163-E5FF-1A8A-51AE7AA1C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5358BBC9-7C15-7554-DFA8-2C353CD72A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71B53A6-091E-4689-DC8F-BA86E6B6B3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5238" y="9118598"/>
            <a:ext cx="20576572" cy="25402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EC462D25-078E-0DE6-462D-551AAFBE185A}"/>
              </a:ext>
            </a:extLst>
          </p:cNvPr>
          <p:cNvSpPr/>
          <p:nvPr/>
        </p:nvSpPr>
        <p:spPr>
          <a:xfrm>
            <a:off x="2032254" y="9029700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DE29F2DC-CD95-4CAE-1180-12CBD439ABC9}"/>
              </a:ext>
            </a:extLst>
          </p:cNvPr>
          <p:cNvSpPr/>
          <p:nvPr/>
        </p:nvSpPr>
        <p:spPr>
          <a:xfrm>
            <a:off x="5295226" y="8997948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2CDA07B-FB0F-BC77-4944-BB9D61E98906}"/>
              </a:ext>
            </a:extLst>
          </p:cNvPr>
          <p:cNvSpPr/>
          <p:nvPr/>
        </p:nvSpPr>
        <p:spPr>
          <a:xfrm>
            <a:off x="9005425" y="8997948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22C8C8FC-2B86-9AB3-433D-3BD533A7BB68}"/>
              </a:ext>
            </a:extLst>
          </p:cNvPr>
          <p:cNvSpPr/>
          <p:nvPr/>
        </p:nvSpPr>
        <p:spPr>
          <a:xfrm>
            <a:off x="13792300" y="9010649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A4D8C09-0544-7F5E-4705-E58DFFADD17E}"/>
              </a:ext>
            </a:extLst>
          </p:cNvPr>
          <p:cNvSpPr/>
          <p:nvPr/>
        </p:nvSpPr>
        <p:spPr>
          <a:xfrm>
            <a:off x="22204619" y="8997948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A6B88D6-68C6-E855-5949-A2FF895489A3}"/>
              </a:ext>
            </a:extLst>
          </p:cNvPr>
          <p:cNvSpPr/>
          <p:nvPr/>
        </p:nvSpPr>
        <p:spPr>
          <a:xfrm>
            <a:off x="1662284" y="1240366"/>
            <a:ext cx="12130016" cy="1346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630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BACKGROUND TÉCNICO DE LLM</a:t>
            </a:r>
          </a:p>
          <a:p>
            <a:pPr marL="0" indent="0" algn="l">
              <a:buNone/>
            </a:pPr>
            <a:endParaRPr lang="en-US" sz="63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DD9538C-01DB-475F-F028-E9B5ADA9A026}"/>
              </a:ext>
            </a:extLst>
          </p:cNvPr>
          <p:cNvSpPr/>
          <p:nvPr/>
        </p:nvSpPr>
        <p:spPr>
          <a:xfrm>
            <a:off x="3537623" y="9893298"/>
            <a:ext cx="4509064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ETAPA 2: EMBEDDINGS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Números viram vetores: cada palavra = 12.288 números representando significado</a:t>
            </a:r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8797DDF-5759-13F8-011A-805503915D04}"/>
              </a:ext>
            </a:extLst>
          </p:cNvPr>
          <p:cNvSpPr/>
          <p:nvPr/>
        </p:nvSpPr>
        <p:spPr>
          <a:xfrm>
            <a:off x="736692" y="6213152"/>
            <a:ext cx="4204225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  <a:cs typeface="Roboto Regular" pitchFamily="34" charset="-120"/>
              </a:rPr>
              <a:t>E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TAPA 1: TOKENIZAÇÃO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Texto vira números: “Gato" → [8756, 9234]</a:t>
            </a:r>
            <a:r>
              <a:rPr lang="en-US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.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A6FA1BE-9721-E1B5-EB47-31CB996123F0}"/>
              </a:ext>
            </a:extLst>
          </p:cNvPr>
          <p:cNvSpPr/>
          <p:nvPr/>
        </p:nvSpPr>
        <p:spPr>
          <a:xfrm>
            <a:off x="11838371" y="10110878"/>
            <a:ext cx="4534467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ETAPA 4: 96 CAMADAS DE PROCESSAMENTO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Cada palavra passa por 96 camadas neurais, transformando significado</a:t>
            </a:r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1F1E0ED-9A54-10C8-BC3B-18A5DA5D4FE7}"/>
              </a:ext>
            </a:extLst>
          </p:cNvPr>
          <p:cNvSpPr/>
          <p:nvPr/>
        </p:nvSpPr>
        <p:spPr>
          <a:xfrm>
            <a:off x="7989299" y="5491970"/>
            <a:ext cx="4204225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ETAPA 3: SELF-ATTENTION (O Cérebro)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Palavras "conversam" entre si para entender contexto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Exemplo: Em "O gato preto bebeu leite", self-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attention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identifica que "gato" é quem bebeu</a:t>
            </a:r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80E0E28-03CE-FE8B-E20E-426ABDB6F148}"/>
              </a:ext>
            </a:extLst>
          </p:cNvPr>
          <p:cNvSpPr/>
          <p:nvPr/>
        </p:nvSpPr>
        <p:spPr>
          <a:xfrm>
            <a:off x="16026454" y="5632449"/>
            <a:ext cx="3772371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ETAPA 5: PROBABILIDADES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Calcula probabilidade de 50.000+ palavras possíveis serem a próxima</a:t>
            </a:r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814516F7-711A-FAE9-0714-08249710D6B4}"/>
              </a:ext>
            </a:extLst>
          </p:cNvPr>
          <p:cNvSpPr/>
          <p:nvPr/>
        </p:nvSpPr>
        <p:spPr>
          <a:xfrm>
            <a:off x="1941226" y="8661400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</a:t>
            </a:r>
            <a:endParaRPr lang="en-US" sz="25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F65AF252-FABB-6707-3453-9CAC2923877C}"/>
              </a:ext>
            </a:extLst>
          </p:cNvPr>
          <p:cNvSpPr/>
          <p:nvPr/>
        </p:nvSpPr>
        <p:spPr>
          <a:xfrm>
            <a:off x="5223250" y="9499341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</a:t>
            </a:r>
            <a:endParaRPr lang="en-US" sz="25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92C6C92-5F3E-1F6F-173F-8CF0B19092BF}"/>
              </a:ext>
            </a:extLst>
          </p:cNvPr>
          <p:cNvSpPr/>
          <p:nvPr/>
        </p:nvSpPr>
        <p:spPr>
          <a:xfrm>
            <a:off x="8933449" y="8625415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</a:t>
            </a:r>
            <a:endParaRPr lang="en-US" sz="25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B86500F-3305-9D79-D47B-1AC7C5351E16}"/>
              </a:ext>
            </a:extLst>
          </p:cNvPr>
          <p:cNvSpPr/>
          <p:nvPr/>
        </p:nvSpPr>
        <p:spPr>
          <a:xfrm>
            <a:off x="13720324" y="9497134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</a:t>
            </a:r>
            <a:endParaRPr lang="en-US" sz="25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D474170-31CB-D905-6942-1CAAC1FEF373}"/>
              </a:ext>
            </a:extLst>
          </p:cNvPr>
          <p:cNvSpPr/>
          <p:nvPr/>
        </p:nvSpPr>
        <p:spPr>
          <a:xfrm>
            <a:off x="17599334" y="8661400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</a:t>
            </a:r>
            <a:endParaRPr lang="en-US" sz="25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0D934ED4-0D1E-82FB-AA8F-B98BD1E6C5FB}"/>
              </a:ext>
            </a:extLst>
          </p:cNvPr>
          <p:cNvSpPr/>
          <p:nvPr/>
        </p:nvSpPr>
        <p:spPr>
          <a:xfrm>
            <a:off x="20468734" y="9777614"/>
            <a:ext cx="3772371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ETAPA 6: GERAÇÃO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Escolhe palavra mais provável → adiciona → repete até completar resposta</a:t>
            </a:r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818CF1DD-F4D1-2E44-9EDF-D8D7B6A6EE92}"/>
              </a:ext>
            </a:extLst>
          </p:cNvPr>
          <p:cNvSpPr/>
          <p:nvPr/>
        </p:nvSpPr>
        <p:spPr>
          <a:xfrm>
            <a:off x="17671310" y="8997948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A73F54FC-E258-DE6B-A8EB-381C259E5D39}"/>
              </a:ext>
            </a:extLst>
          </p:cNvPr>
          <p:cNvSpPr/>
          <p:nvPr/>
        </p:nvSpPr>
        <p:spPr>
          <a:xfrm>
            <a:off x="22162280" y="9411561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</a:rPr>
              <a:t>6</a:t>
            </a:r>
            <a:endParaRPr lang="en-US" sz="25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CE9A9C33-B237-2CEE-E9CE-BBA1276B0C82}"/>
              </a:ext>
            </a:extLst>
          </p:cNvPr>
          <p:cNvSpPr/>
          <p:nvPr/>
        </p:nvSpPr>
        <p:spPr>
          <a:xfrm>
            <a:off x="7082736" y="2827775"/>
            <a:ext cx="12130016" cy="1346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630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Você digita: "O gato preto bebeu leite”</a:t>
            </a:r>
            <a:endParaRPr lang="en-US" sz="6300" dirty="0">
              <a:solidFill>
                <a:srgbClr val="ED145B">
                  <a:alpha val="100000"/>
                </a:srgbClr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8E8477C-6888-0C0F-2036-0A47322C0AB5}"/>
              </a:ext>
            </a:extLst>
          </p:cNvPr>
          <p:cNvSpPr/>
          <p:nvPr/>
        </p:nvSpPr>
        <p:spPr>
          <a:xfrm>
            <a:off x="16026454" y="12809125"/>
            <a:ext cx="10611811" cy="121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Tempo: 1-3 segundos | Operações: 11.6 trilhões de cálculos!</a:t>
            </a:r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9CC27D6A-2C04-A9CF-3BF8-0D12E3D0FA83}"/>
              </a:ext>
            </a:extLst>
          </p:cNvPr>
          <p:cNvSpPr/>
          <p:nvPr/>
        </p:nvSpPr>
        <p:spPr>
          <a:xfrm>
            <a:off x="6872052" y="4650578"/>
            <a:ext cx="5971889" cy="43687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054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A25E9-791B-1A00-5E72-899B9201C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7B7A0FD2-8462-631A-1529-60290947B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3EF95C5-8CB4-6B52-08C8-7421E0F24AD4}"/>
              </a:ext>
            </a:extLst>
          </p:cNvPr>
          <p:cNvSpPr/>
          <p:nvPr/>
        </p:nvSpPr>
        <p:spPr>
          <a:xfrm>
            <a:off x="1326739" y="1504950"/>
            <a:ext cx="15788073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400"/>
              </a:lnSpc>
            </a:pPr>
            <a:r>
              <a:rPr lang="pt-BR" sz="6300" kern="0" spc="315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SELF-ATTENTION = Entender Relações</a:t>
            </a:r>
            <a:endParaRPr lang="en-US" sz="6300" kern="0" spc="315" dirty="0">
              <a:solidFill>
                <a:srgbClr val="ED145B">
                  <a:alpha val="100000"/>
                </a:srgbClr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946B530-02D7-128B-9063-BADFDAD27C7D}"/>
              </a:ext>
            </a:extLst>
          </p:cNvPr>
          <p:cNvSpPr/>
          <p:nvPr/>
        </p:nvSpPr>
        <p:spPr>
          <a:xfrm>
            <a:off x="1326739" y="3303426"/>
            <a:ext cx="12777797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Frase: "O gato preto bebeu leite"</a:t>
            </a:r>
          </a:p>
          <a:p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Perguntas que a IA faz:</a:t>
            </a:r>
          </a:p>
          <a:p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- Quem bebeu? → gato (alta importância)</a:t>
            </a: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- O que bebeu? → leite (alta importância)  </a:t>
            </a: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- Como é o gato? → preto (média importância)</a:t>
            </a: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- Artigos? → o (baixa importância)</a:t>
            </a:r>
          </a:p>
          <a:p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Self-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Attention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é como ler uma frase e sublinhar as palavras importantes. Em 'O gato preto bebeu leite', você sublinha 'gato' e 'bebeu</a:t>
            </a:r>
            <a:r>
              <a:rPr lang="pt-BR" dirty="0"/>
              <a:t>' juntos porque são relacionados</a:t>
            </a:r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Resultado: IA sabe que "bebeu" se refere a "gato"</a:t>
            </a:r>
            <a:b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</a:br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 </a:t>
            </a:r>
            <a:b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</a:br>
            <a:endParaRPr lang="en-US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pic>
        <p:nvPicPr>
          <p:cNvPr id="6" name="Image 50" descr=" ">
            <a:extLst>
              <a:ext uri="{FF2B5EF4-FFF2-40B4-BE49-F238E27FC236}">
                <a16:creationId xmlns:a16="http://schemas.microsoft.com/office/drawing/2014/main" id="{2BDF62EA-5474-64A9-ED96-37264B31F8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86494" y="833718"/>
            <a:ext cx="3553685" cy="95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77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8168F-AF25-8441-FC2A-956391AB4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4A4798F0-2D8D-B2F4-8FA3-2F735183A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78A6869-0203-9289-E359-4CBFC336ECC5}"/>
              </a:ext>
            </a:extLst>
          </p:cNvPr>
          <p:cNvSpPr/>
          <p:nvPr/>
        </p:nvSpPr>
        <p:spPr>
          <a:xfrm>
            <a:off x="1233433" y="1655308"/>
            <a:ext cx="1755842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400"/>
              </a:lnSpc>
            </a:pPr>
            <a:r>
              <a:rPr lang="pt-BR" sz="6300" kern="0" spc="315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SELF-ATTENTION: Q, K, V NA PRÁTICA</a:t>
            </a:r>
            <a:endParaRPr lang="en-US" sz="6300" kern="0" spc="315" dirty="0">
              <a:solidFill>
                <a:srgbClr val="ED145B">
                  <a:alpha val="100000"/>
                </a:srgbClr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BD3E67D-AB64-B854-A0C8-7219607BF487}"/>
              </a:ext>
            </a:extLst>
          </p:cNvPr>
          <p:cNvSpPr/>
          <p:nvPr/>
        </p:nvSpPr>
        <p:spPr>
          <a:xfrm>
            <a:off x="1233433" y="3198358"/>
            <a:ext cx="19200608" cy="7632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Frase: "O gato preto bebeu leite“</a:t>
            </a: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Para a palavra "bebeu":</a:t>
            </a:r>
          </a:p>
          <a:p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Q_bebeu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 = "Procuro: quem fez? o que foi feito?“</a:t>
            </a:r>
          </a:p>
          <a:p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Comparando com todas as palavras:</a:t>
            </a:r>
          </a:p>
          <a:p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Q_bebeu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× K_O = 0.05 → Artigo não é importante</a:t>
            </a:r>
          </a:p>
          <a:p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Q_bebeu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×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K_gato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= 0.40 → GATO é o sujeito! ✓</a:t>
            </a:r>
          </a:p>
          <a:p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Q_bebeu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×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K_preto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= 0.05 → Adjetivo não importa aqui</a:t>
            </a:r>
          </a:p>
          <a:p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Q_bebeu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×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K_leite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 = 0.35 → LEITE é o objeto! ✓</a:t>
            </a:r>
          </a:p>
          <a:p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Agora pega os VALORES (V):</a:t>
            </a:r>
          </a:p>
          <a:p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Novo_bebeu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= 40% de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V_gato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+ 35% de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V_leite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+ ...</a:t>
            </a:r>
          </a:p>
          <a:p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RESULTADO: </a:t>
            </a:r>
          </a:p>
          <a:p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"bebeu" agora está CONTEXTUALIZADO:</a:t>
            </a:r>
          </a:p>
          <a:p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✓ Sabe que o sujeito é "gato“</a:t>
            </a: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✓ Sabe que o objeto é "leite“</a:t>
            </a: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✓ Entendeu a relação: "gato bebeu leite"</a:t>
            </a:r>
            <a:b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</a:br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 </a:t>
            </a:r>
            <a:b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</a:br>
            <a:endParaRPr lang="en-US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pic>
        <p:nvPicPr>
          <p:cNvPr id="6" name="Image 50" descr=" ">
            <a:extLst>
              <a:ext uri="{FF2B5EF4-FFF2-40B4-BE49-F238E27FC236}">
                <a16:creationId xmlns:a16="http://schemas.microsoft.com/office/drawing/2014/main" id="{BAB17442-24BE-91E6-860F-C980DC7189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86494" y="833718"/>
            <a:ext cx="3553685" cy="95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595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F10F8-9F5D-83CE-B643-971647EC9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EC76AC46-9B18-0DD8-7DCB-5863BED94F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07E84778-5AB8-6E79-22A4-09BC566B90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5238" y="9118598"/>
            <a:ext cx="20576572" cy="25402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7C72FA9A-7E71-60C8-E716-6E1C319CC36D}"/>
              </a:ext>
            </a:extLst>
          </p:cNvPr>
          <p:cNvSpPr/>
          <p:nvPr/>
        </p:nvSpPr>
        <p:spPr>
          <a:xfrm>
            <a:off x="2032254" y="9029700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6DD20321-AFB7-7FF7-044E-10430D09FC30}"/>
              </a:ext>
            </a:extLst>
          </p:cNvPr>
          <p:cNvSpPr/>
          <p:nvPr/>
        </p:nvSpPr>
        <p:spPr>
          <a:xfrm>
            <a:off x="5295226" y="8997948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93474AB-044D-7BDA-421E-6F96D6FD8BDE}"/>
              </a:ext>
            </a:extLst>
          </p:cNvPr>
          <p:cNvSpPr/>
          <p:nvPr/>
        </p:nvSpPr>
        <p:spPr>
          <a:xfrm>
            <a:off x="9005425" y="8997948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C1B7F0A3-34A7-2083-1108-79B6BCFCC59A}"/>
              </a:ext>
            </a:extLst>
          </p:cNvPr>
          <p:cNvSpPr/>
          <p:nvPr/>
        </p:nvSpPr>
        <p:spPr>
          <a:xfrm>
            <a:off x="13792300" y="9010649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4D78000-74D0-EE64-6C04-409634F0254E}"/>
              </a:ext>
            </a:extLst>
          </p:cNvPr>
          <p:cNvSpPr/>
          <p:nvPr/>
        </p:nvSpPr>
        <p:spPr>
          <a:xfrm>
            <a:off x="1662284" y="1240366"/>
            <a:ext cx="12130016" cy="1346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630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SELF-ATTENTION (Etapa 3 )</a:t>
            </a:r>
          </a:p>
          <a:p>
            <a:pPr marL="0" indent="0" algn="l">
              <a:buNone/>
            </a:pPr>
            <a:endParaRPr lang="en-US" sz="63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A03156B-ABD2-9888-80C6-41206C1F4F8A}"/>
              </a:ext>
            </a:extLst>
          </p:cNvPr>
          <p:cNvSpPr/>
          <p:nvPr/>
        </p:nvSpPr>
        <p:spPr>
          <a:xfrm>
            <a:off x="2109234" y="10131967"/>
            <a:ext cx="9461241" cy="305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ETAPA 2: Q × K^T (Calcular Similaridades)</a:t>
            </a:r>
          </a:p>
          <a:p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Q_bebeu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× K_O^T  = 0.05 (baixa similaridade)</a:t>
            </a:r>
          </a:p>
          <a:p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Q_bebeu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 × 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K_gato^T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 = 0.40 (alta similaridade - "gato" é importante!)</a:t>
            </a:r>
          </a:p>
          <a:p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Q_bebeu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× 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K_preto^T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= 0.05 (baixa similaridade)</a:t>
            </a:r>
          </a:p>
          <a:p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Q_bebeu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× 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K_leite^T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= 0.35 (alta similaridade - "leite" é importante!)</a:t>
            </a: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Scores brutos: [0.05, 0.40, 0.05, 0.35]</a:t>
            </a:r>
          </a:p>
          <a:p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2D1E3B3-4200-D705-30DF-A659ED23CB51}"/>
              </a:ext>
            </a:extLst>
          </p:cNvPr>
          <p:cNvSpPr/>
          <p:nvPr/>
        </p:nvSpPr>
        <p:spPr>
          <a:xfrm>
            <a:off x="736692" y="6213152"/>
            <a:ext cx="4204225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ETAPA 1 :</a:t>
            </a:r>
          </a:p>
          <a:p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Embeddings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originais das palavras:</a:t>
            </a:r>
          </a:p>
          <a:p>
            <a:pPr lvl="0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X_O, 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X_gato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, 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X_preto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, 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X_bebeu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, 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X_leite</a:t>
            </a:r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en-US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.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0600FBF-EBEA-F248-9EDC-B5C8A0A1BF90}"/>
              </a:ext>
            </a:extLst>
          </p:cNvPr>
          <p:cNvSpPr/>
          <p:nvPr/>
        </p:nvSpPr>
        <p:spPr>
          <a:xfrm>
            <a:off x="15086132" y="9683400"/>
            <a:ext cx="4534467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ETAPA 4:  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Softmax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(Converter em Probabilidades)</a:t>
            </a:r>
          </a:p>
          <a:p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softmax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([0.00045, 0.0036, 0.00045, 0.0032])Probabilidades (somam 1.0): [0.05, 0.40, 0.05, 0.35]</a:t>
            </a: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Nota: Simplificado para exemplo didático - na prática a diferença seria maior após exponenciais</a:t>
            </a:r>
          </a:p>
          <a:p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D8DE1BF-772F-436F-CAF6-C4C4BD8E954E}"/>
              </a:ext>
            </a:extLst>
          </p:cNvPr>
          <p:cNvSpPr/>
          <p:nvPr/>
        </p:nvSpPr>
        <p:spPr>
          <a:xfrm>
            <a:off x="7830047" y="5253067"/>
            <a:ext cx="7480856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ETAPA 3 Dividir por √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d_k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 (Normalização)</a:t>
            </a:r>
          </a:p>
          <a:p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√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d_k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= √12.288 ≈ 110.85Scores normalizados:</a:t>
            </a:r>
          </a:p>
          <a:p>
            <a:pPr lvl="0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0.05 / 110.85 ≈ 0.00045</a:t>
            </a:r>
          </a:p>
          <a:p>
            <a:pPr lvl="0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0.40 / 110.85 ≈ 0.0036</a:t>
            </a:r>
          </a:p>
          <a:p>
            <a:pPr lvl="0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0.05 / 110.85 ≈ 0.00045</a:t>
            </a:r>
          </a:p>
          <a:p>
            <a:pPr lvl="0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0.35 / 110.85 ≈ 0.0032</a:t>
            </a: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Scores normalizados: [0.00045, 0.0036, 0.00045, 0.0032]</a:t>
            </a:r>
          </a:p>
          <a:p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05DC582-7C93-80D2-A049-C3C8AE8408B8}"/>
              </a:ext>
            </a:extLst>
          </p:cNvPr>
          <p:cNvSpPr/>
          <p:nvPr/>
        </p:nvSpPr>
        <p:spPr>
          <a:xfrm>
            <a:off x="16255231" y="5462863"/>
            <a:ext cx="8214651" cy="337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ETAPA 5: PASSO 4: Multiplicar por V (Combinar Valores)</a:t>
            </a:r>
          </a:p>
          <a:p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Resultado = 0.05 × V_O + 0.40 × 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V_gato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+ 0.05 × 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V_preto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+ 0.35 × 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V_leiteOnde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:</a:t>
            </a:r>
          </a:p>
          <a:p>
            <a:pPr lvl="0"/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V_O = [0.12, -0.23, 0.45, ...] (12.288 dimensões)</a:t>
            </a:r>
          </a:p>
          <a:p>
            <a:pPr lvl="0"/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V_gato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 = [0.89, 0.56, -0.12, ...] (12.288 dimensões) </a:t>
            </a:r>
          </a:p>
          <a:p>
            <a:pPr lvl="0"/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V_preto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= [0.34, -0.78, 0.23, ...]</a:t>
            </a:r>
          </a:p>
          <a:p>
            <a:pPr lvl="0"/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V_leite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 = [0.67, 0.45, -0.34, ...]</a:t>
            </a:r>
          </a:p>
          <a:p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2C11FB0-6D69-0AA0-8CF7-170A229B8122}"/>
              </a:ext>
            </a:extLst>
          </p:cNvPr>
          <p:cNvSpPr/>
          <p:nvPr/>
        </p:nvSpPr>
        <p:spPr>
          <a:xfrm>
            <a:off x="1941226" y="8661400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</a:t>
            </a:r>
            <a:endParaRPr lang="en-US" sz="25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A10889B-F324-3837-61D2-2AAD66881338}"/>
              </a:ext>
            </a:extLst>
          </p:cNvPr>
          <p:cNvSpPr/>
          <p:nvPr/>
        </p:nvSpPr>
        <p:spPr>
          <a:xfrm>
            <a:off x="5223250" y="9499341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</a:t>
            </a:r>
            <a:endParaRPr lang="en-US" sz="25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240211FA-C409-6142-60A1-E5C93C80F648}"/>
              </a:ext>
            </a:extLst>
          </p:cNvPr>
          <p:cNvSpPr/>
          <p:nvPr/>
        </p:nvSpPr>
        <p:spPr>
          <a:xfrm>
            <a:off x="8933449" y="8625415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</a:t>
            </a:r>
            <a:endParaRPr lang="en-US" sz="25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4BFA357-B2AE-D19F-4ABF-93411DEAE286}"/>
              </a:ext>
            </a:extLst>
          </p:cNvPr>
          <p:cNvSpPr/>
          <p:nvPr/>
        </p:nvSpPr>
        <p:spPr>
          <a:xfrm>
            <a:off x="13720324" y="9497134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</a:t>
            </a:r>
            <a:endParaRPr lang="en-US" sz="25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14710AAA-185E-DD7B-BA1F-FB86C0D982BA}"/>
              </a:ext>
            </a:extLst>
          </p:cNvPr>
          <p:cNvSpPr/>
          <p:nvPr/>
        </p:nvSpPr>
        <p:spPr>
          <a:xfrm>
            <a:off x="20970131" y="8685740"/>
            <a:ext cx="38528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500" kern="0" spc="75" dirty="0">
                <a:solidFill>
                  <a:srgbClr val="ED145B">
                    <a:alpha val="10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</a:t>
            </a:r>
            <a:endParaRPr lang="en-US" sz="25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2F50669E-644F-D115-289F-C0B775E0EED8}"/>
              </a:ext>
            </a:extLst>
          </p:cNvPr>
          <p:cNvSpPr/>
          <p:nvPr/>
        </p:nvSpPr>
        <p:spPr>
          <a:xfrm>
            <a:off x="21077088" y="9033933"/>
            <a:ext cx="241330" cy="241300"/>
          </a:xfrm>
          <a:prstGeom prst="ellipse">
            <a:avLst/>
          </a:prstGeom>
          <a:solidFill>
            <a:srgbClr val="ED145B">
              <a:alpha val="10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CE413D72-55E5-C2A1-0E80-06650D630337}"/>
              </a:ext>
            </a:extLst>
          </p:cNvPr>
          <p:cNvSpPr/>
          <p:nvPr/>
        </p:nvSpPr>
        <p:spPr>
          <a:xfrm>
            <a:off x="7082736" y="2827775"/>
            <a:ext cx="12130016" cy="1346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630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Você digita: "O gato preto bebeu leite”</a:t>
            </a:r>
            <a:endParaRPr lang="en-US" sz="6300" dirty="0">
              <a:solidFill>
                <a:srgbClr val="ED145B">
                  <a:alpha val="100000"/>
                </a:srgbClr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pic>
        <p:nvPicPr>
          <p:cNvPr id="26" name="Imagem 25" descr="Texto&#10;&#10;O conteúdo gerado por IA pode estar incorreto.">
            <a:extLst>
              <a:ext uri="{FF2B5EF4-FFF2-40B4-BE49-F238E27FC236}">
                <a16:creationId xmlns:a16="http://schemas.microsoft.com/office/drawing/2014/main" id="{5223E938-8C16-25DD-A0C3-CC6CEB1C2AF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353366" y="1078815"/>
            <a:ext cx="6682466" cy="112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467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1B6D-82D9-1FB3-C879-C91EDFAA2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CBB38907-0841-1B20-8E1E-3C2F1FAC8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F9D7A34-FC4A-CFEB-E326-F4CD1B324143}"/>
              </a:ext>
            </a:extLst>
          </p:cNvPr>
          <p:cNvSpPr/>
          <p:nvPr/>
        </p:nvSpPr>
        <p:spPr>
          <a:xfrm>
            <a:off x="1457368" y="3048000"/>
            <a:ext cx="15788073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400"/>
              </a:lnSpc>
            </a:pPr>
            <a:r>
              <a:rPr lang="pt-BR" sz="6300" kern="0" spc="315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RESULTADO FINAL</a:t>
            </a:r>
            <a:endParaRPr lang="en-US" sz="6300" kern="0" spc="315" dirty="0">
              <a:solidFill>
                <a:srgbClr val="ED145B">
                  <a:alpha val="100000"/>
                </a:srgbClr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9046241-9DFF-A4AB-5B99-4B04763333FB}"/>
              </a:ext>
            </a:extLst>
          </p:cNvPr>
          <p:cNvSpPr/>
          <p:nvPr/>
        </p:nvSpPr>
        <p:spPr>
          <a:xfrm>
            <a:off x="1681303" y="4591050"/>
            <a:ext cx="12777797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Vetor de 12.288 dimensões que combina principalmente:</a:t>
            </a:r>
          </a:p>
          <a:p>
            <a:pPr lvl="0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40% da informação de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V_gato</a:t>
            </a:r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pPr lvl="0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35% da informação de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V_leite</a:t>
            </a:r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pPr lvl="0"/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10% de V_O e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V_preto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 (combinados)</a:t>
            </a: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Este novo vetor representa "bebeu"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CONTEXTUALIZADO:"bebeu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" agora sabe que quem bebeu foi "gato" e o que foi bebido foi "leite"</a:t>
            </a:r>
            <a:b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</a:br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 </a:t>
            </a: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Onde cada token passa por:</a:t>
            </a:r>
            <a:b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</a:b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• 116 BILHÕES de operações (96 camadas × 96 cabeças)</a:t>
            </a:r>
            <a:b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</a:b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• 679 MILHÕES de números processados</a:t>
            </a:r>
            <a:b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</a:br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* Baseado em GPT-4 (96 camadas, 12.288 dimensões)</a:t>
            </a:r>
            <a:endParaRPr lang="en-US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pic>
        <p:nvPicPr>
          <p:cNvPr id="6" name="Image 50" descr=" ">
            <a:extLst>
              <a:ext uri="{FF2B5EF4-FFF2-40B4-BE49-F238E27FC236}">
                <a16:creationId xmlns:a16="http://schemas.microsoft.com/office/drawing/2014/main" id="{EE56F859-22CC-B2DB-8934-75E6761D53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86494" y="833718"/>
            <a:ext cx="3553685" cy="95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833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5F7F9-1BAA-D60A-2AB4-6EBE0EB29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C4B6915-6159-69EA-31D7-3CEEF76861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E33731E-094C-CA8F-8988-733CE1C93359}"/>
              </a:ext>
            </a:extLst>
          </p:cNvPr>
          <p:cNvSpPr/>
          <p:nvPr/>
        </p:nvSpPr>
        <p:spPr>
          <a:xfrm>
            <a:off x="1939109" y="2076450"/>
            <a:ext cx="872176" cy="85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0" kern="0" spc="25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  <a:cs typeface="Gotham HTF Book" pitchFamily="34" charset="-120"/>
              </a:rPr>
              <a:t>1</a:t>
            </a:r>
            <a:endParaRPr lang="en-US" sz="50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47407A1-6852-F0CF-C1AE-2793DD6D6773}"/>
              </a:ext>
            </a:extLst>
          </p:cNvPr>
          <p:cNvSpPr/>
          <p:nvPr/>
        </p:nvSpPr>
        <p:spPr>
          <a:xfrm>
            <a:off x="1905238" y="1905000"/>
            <a:ext cx="978022" cy="977900"/>
          </a:xfrm>
          <a:prstGeom prst="ellipse">
            <a:avLst/>
          </a:prstGeom>
          <a:noFill/>
          <a:ln w="50800">
            <a:solidFill>
              <a:srgbClr val="ED14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FE07C85-EAEC-4834-5B7A-19EDB96DEBB4}"/>
              </a:ext>
            </a:extLst>
          </p:cNvPr>
          <p:cNvSpPr/>
          <p:nvPr/>
        </p:nvSpPr>
        <p:spPr>
          <a:xfrm>
            <a:off x="1905238" y="3263900"/>
            <a:ext cx="5846964" cy="1325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50"/>
              </a:lnSpc>
            </a:pPr>
            <a:r>
              <a:rPr lang="pt-BR" sz="2500" kern="0" spc="125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</a:rPr>
              <a:t>Prompt Ruim</a:t>
            </a:r>
            <a:endParaRPr lang="en-US" sz="2500" kern="0" spc="125" dirty="0">
              <a:solidFill>
                <a:srgbClr val="ED145B">
                  <a:alpha val="100000"/>
                </a:srgbClr>
              </a:solidFill>
              <a:latin typeface="Gotham HTF Medium" pitchFamily="34" charset="0"/>
              <a:ea typeface="Gotham HTF Medium" pitchFamily="34" charset="-122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D99310E-E0A2-769C-C68A-9CB3300C0ED7}"/>
              </a:ext>
            </a:extLst>
          </p:cNvPr>
          <p:cNvSpPr/>
          <p:nvPr/>
        </p:nvSpPr>
        <p:spPr>
          <a:xfrm>
            <a:off x="1905238" y="4737100"/>
            <a:ext cx="511874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Entrada: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"Fale sobre plantas"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O que acontece internamente: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• Self-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Attention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dispersa: "plantas" pode ser fotossíntese? evolução? anatomia?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• Probabilidades espalhadas: 1000+ direções possíveis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• Modelo confuso: gera texto genérico e longo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Resultado: Resposta vaga, 200+ palavras, qualidade 3/10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F2A7DF2-E433-39B2-D9B7-2AAAB81122EF}"/>
              </a:ext>
            </a:extLst>
          </p:cNvPr>
          <p:cNvSpPr/>
          <p:nvPr/>
        </p:nvSpPr>
        <p:spPr>
          <a:xfrm>
            <a:off x="16787265" y="2070100"/>
            <a:ext cx="872176" cy="85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0" kern="0" spc="25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  <a:cs typeface="Gotham HTF Book" pitchFamily="34" charset="-120"/>
              </a:rPr>
              <a:t>3</a:t>
            </a:r>
            <a:endParaRPr lang="en-US" sz="5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29E7BCE-A044-946F-1360-400BE2B05E81}"/>
              </a:ext>
            </a:extLst>
          </p:cNvPr>
          <p:cNvSpPr/>
          <p:nvPr/>
        </p:nvSpPr>
        <p:spPr>
          <a:xfrm>
            <a:off x="16740692" y="1905000"/>
            <a:ext cx="978022" cy="977900"/>
          </a:xfrm>
          <a:prstGeom prst="ellipse">
            <a:avLst/>
          </a:prstGeom>
          <a:noFill/>
          <a:ln w="50800">
            <a:solidFill>
              <a:srgbClr val="ED14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C1790C9-F3D2-F0BF-D512-3393B1476540}"/>
              </a:ext>
            </a:extLst>
          </p:cNvPr>
          <p:cNvSpPr/>
          <p:nvPr/>
        </p:nvSpPr>
        <p:spPr>
          <a:xfrm>
            <a:off x="16740692" y="3263900"/>
            <a:ext cx="5846964" cy="1325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50"/>
              </a:lnSpc>
            </a:pPr>
            <a:r>
              <a:rPr lang="pt-BR" sz="2500" kern="0" spc="125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</a:rPr>
              <a:t>Diferença</a:t>
            </a:r>
            <a:endParaRPr lang="en-US" sz="2500" kern="0" spc="125" dirty="0">
              <a:solidFill>
                <a:srgbClr val="ED145B">
                  <a:alpha val="100000"/>
                </a:srgbClr>
              </a:solidFill>
              <a:latin typeface="Gotham HTF Medium" pitchFamily="34" charset="0"/>
              <a:ea typeface="Gotham HTF Medium" pitchFamily="34" charset="-122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16EA7E8-2EC7-D36D-01DD-4B2F208D5F5D}"/>
              </a:ext>
            </a:extLst>
          </p:cNvPr>
          <p:cNvSpPr/>
          <p:nvPr/>
        </p:nvSpPr>
        <p:spPr>
          <a:xfrm>
            <a:off x="16740692" y="4737100"/>
            <a:ext cx="511874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• Confiança: 15% → 68% (4.5x melhor)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• Eficiência: 200 → 80 tokens (60% economia)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• Custo: $0.006 → $0.0024 (60% mais barato)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endParaRPr lang="pt-BR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• Qualidade: 3/10 → 9/10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9315BDE-4C1E-557E-029D-E76B08AB5E4F}"/>
              </a:ext>
            </a:extLst>
          </p:cNvPr>
          <p:cNvSpPr/>
          <p:nvPr/>
        </p:nvSpPr>
        <p:spPr>
          <a:xfrm>
            <a:off x="9369538" y="2051050"/>
            <a:ext cx="872176" cy="85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0" kern="0" spc="25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  <a:cs typeface="Gotham HTF Book" pitchFamily="34" charset="-120"/>
              </a:rPr>
              <a:t>2</a:t>
            </a:r>
            <a:endParaRPr lang="en-US" sz="50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CA0A18C-C65A-1CF0-F2F2-2BE10C46A9D7}"/>
              </a:ext>
            </a:extLst>
          </p:cNvPr>
          <p:cNvSpPr/>
          <p:nvPr/>
        </p:nvSpPr>
        <p:spPr>
          <a:xfrm>
            <a:off x="9322965" y="1905000"/>
            <a:ext cx="978022" cy="977900"/>
          </a:xfrm>
          <a:prstGeom prst="ellipse">
            <a:avLst/>
          </a:prstGeom>
          <a:noFill/>
          <a:ln w="50800">
            <a:solidFill>
              <a:srgbClr val="ED14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4514619-0E1D-3E19-4621-AB293EF7DBA7}"/>
              </a:ext>
            </a:extLst>
          </p:cNvPr>
          <p:cNvSpPr/>
          <p:nvPr/>
        </p:nvSpPr>
        <p:spPr>
          <a:xfrm>
            <a:off x="9322965" y="3263900"/>
            <a:ext cx="5846964" cy="1325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50"/>
              </a:lnSpc>
            </a:pPr>
            <a:r>
              <a:rPr lang="en-US" sz="2500" kern="0" spc="125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  <a:cs typeface="Gotham HTF Medium" pitchFamily="34" charset="-120"/>
              </a:rPr>
              <a:t> </a:t>
            </a:r>
            <a:r>
              <a:rPr lang="pt-BR" sz="2500" kern="0" spc="125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  <a:cs typeface="Gotham HTF Medium" pitchFamily="34" charset="-120"/>
              </a:rPr>
              <a:t>Prompt Bom</a:t>
            </a:r>
            <a:r>
              <a:rPr lang="pt-BR" sz="2500" kern="0" spc="125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</a:rPr>
              <a:t> </a:t>
            </a:r>
            <a:endParaRPr lang="en-US" sz="2500" kern="0" spc="125" dirty="0">
              <a:solidFill>
                <a:srgbClr val="ED145B">
                  <a:alpha val="100000"/>
                </a:srgbClr>
              </a:solidFill>
              <a:latin typeface="Gotham HTF Medium" pitchFamily="34" charset="0"/>
              <a:ea typeface="Gotham HTF Medium" pitchFamily="34" charset="-122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2EEA23B-FF52-A3E5-CCB3-A352BE1DF3DE}"/>
              </a:ext>
            </a:extLst>
          </p:cNvPr>
          <p:cNvSpPr/>
          <p:nvPr/>
        </p:nvSpPr>
        <p:spPr>
          <a:xfrm>
            <a:off x="9322965" y="4737100"/>
            <a:ext cx="511874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Entrada: </a:t>
            </a:r>
          </a:p>
          <a:p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"Você é professor de biologia. Explique fotossíntese para ensino médio em 5 frases: definição, etapas, importância."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O que acontece internamente: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• Self-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Attention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focada: papel claro, público definido, estrutura especificada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• Probabilidades concentradas: 68% de confiança na melhor palavra (</a:t>
            </a:r>
            <a:r>
              <a:rPr lang="pt-BR" sz="2400" dirty="0" err="1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vs</a:t>
            </a: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 15%)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• Modelo preciso: gera texto objetivo e estruturado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  <a:t>Resultado: Resposta focada, 80 palavras, qualidade 9/10</a:t>
            </a:r>
            <a:br>
              <a:rPr lang="pt-BR" sz="2400" dirty="0">
                <a:solidFill>
                  <a:srgbClr val="A2B6C1"/>
                </a:solidFill>
                <a:latin typeface="Roboto Regular" pitchFamily="34" charset="0"/>
                <a:ea typeface="Roboto Regular" pitchFamily="34" charset="-122"/>
              </a:rPr>
            </a:br>
            <a:endParaRPr lang="en-US" sz="2400" dirty="0">
              <a:solidFill>
                <a:srgbClr val="A2B6C1"/>
              </a:solidFill>
              <a:latin typeface="Roboto Regular" pitchFamily="34" charset="0"/>
              <a:ea typeface="Roboto Regular" pitchFamily="34" charset="-122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B06D0282-0079-4198-5A9A-61E7CFB5460D}"/>
              </a:ext>
            </a:extLst>
          </p:cNvPr>
          <p:cNvSpPr/>
          <p:nvPr/>
        </p:nvSpPr>
        <p:spPr>
          <a:xfrm>
            <a:off x="6333839" y="197545"/>
            <a:ext cx="12130016" cy="1346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6300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Por que seu prompt importa tanto?</a:t>
            </a:r>
          </a:p>
          <a:p>
            <a:pPr marL="0" indent="0" algn="l">
              <a:buNone/>
            </a:pPr>
            <a:endParaRPr lang="en-US" sz="6300" dirty="0"/>
          </a:p>
        </p:txBody>
      </p:sp>
    </p:spTree>
    <p:extLst>
      <p:ext uri="{BB962C8B-B14F-4D97-AF65-F5344CB8AC3E}">
        <p14:creationId xmlns:p14="http://schemas.microsoft.com/office/powerpoint/2010/main" val="3779999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21E0D-2880-C26A-376A-44DDE4D84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1B65CD9D-55BA-36E3-88D3-57A6DC421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51C3CB5-3C2E-6A78-FB9F-6759C7A0F358}"/>
              </a:ext>
            </a:extLst>
          </p:cNvPr>
          <p:cNvSpPr/>
          <p:nvPr/>
        </p:nvSpPr>
        <p:spPr>
          <a:xfrm>
            <a:off x="1457368" y="3048000"/>
            <a:ext cx="15788073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400"/>
              </a:lnSpc>
            </a:pPr>
            <a:r>
              <a:rPr lang="pt-BR" sz="6300" kern="0" spc="315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Mensagem Chave</a:t>
            </a:r>
            <a:endParaRPr lang="en-US" sz="6300" kern="0" spc="315" dirty="0">
              <a:solidFill>
                <a:srgbClr val="ED145B">
                  <a:alpha val="100000"/>
                </a:srgbClr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FBA9912-6349-2720-5833-A9AED81617C3}"/>
              </a:ext>
            </a:extLst>
          </p:cNvPr>
          <p:cNvSpPr/>
          <p:nvPr/>
        </p:nvSpPr>
        <p:spPr>
          <a:xfrm>
            <a:off x="1681303" y="4591050"/>
            <a:ext cx="12777797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Seu prompt não é "só texto" – é a ENTRADA de trilhões de cálculos matemáticos</a:t>
            </a:r>
            <a:b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</a:br>
            <a:b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</a:b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Prompt claro = Cálculos focados = Resposta melhor = Economia de tempo e dinheiro</a:t>
            </a:r>
            <a:b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</a:b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</a:t>
            </a:r>
            <a:b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</a:br>
            <a:endParaRPr lang="en-US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pic>
        <p:nvPicPr>
          <p:cNvPr id="6" name="Image 50" descr=" ">
            <a:extLst>
              <a:ext uri="{FF2B5EF4-FFF2-40B4-BE49-F238E27FC236}">
                <a16:creationId xmlns:a16="http://schemas.microsoft.com/office/drawing/2014/main" id="{7FEB5983-41BA-61EF-62B1-204D53CD3A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86494" y="833718"/>
            <a:ext cx="3553685" cy="95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20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71964-9129-C4C2-5D8B-6795917F4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053DDFE9-9099-B91E-BF46-4517795AE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BD6BF5C-31C7-17FD-6F0E-196E3A9DA23B}"/>
              </a:ext>
            </a:extLst>
          </p:cNvPr>
          <p:cNvSpPr/>
          <p:nvPr/>
        </p:nvSpPr>
        <p:spPr>
          <a:xfrm>
            <a:off x="1457368" y="3048000"/>
            <a:ext cx="15788073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400"/>
              </a:lnSpc>
            </a:pPr>
            <a:r>
              <a:rPr lang="pt-BR" sz="6300" kern="0" spc="315" dirty="0">
                <a:solidFill>
                  <a:srgbClr val="ED145B">
                    <a:alpha val="100000"/>
                  </a:srgbClr>
                </a:solidFill>
                <a:latin typeface="Gotham HTF Book" pitchFamily="34" charset="0"/>
                <a:ea typeface="Gotham HTF Book" pitchFamily="34" charset="-122"/>
              </a:rPr>
              <a:t>FERRAMENTAS PARA PRATICAR</a:t>
            </a:r>
            <a:endParaRPr lang="en-US" sz="6300" kern="0" spc="315" dirty="0">
              <a:solidFill>
                <a:srgbClr val="ED145B">
                  <a:alpha val="100000"/>
                </a:srgbClr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FA07B6E-00CF-6D4C-76FF-71764B10E4FB}"/>
              </a:ext>
            </a:extLst>
          </p:cNvPr>
          <p:cNvSpPr/>
          <p:nvPr/>
        </p:nvSpPr>
        <p:spPr>
          <a:xfrm>
            <a:off x="1681303" y="4591050"/>
            <a:ext cx="12777797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Playgrounds:</a:t>
            </a: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• ChatGPT Playground</a:t>
            </a: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• Claude.ai</a:t>
            </a: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•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Perplexity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AI</a:t>
            </a:r>
          </a:p>
          <a:p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Frameworks:</a:t>
            </a: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•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LangChain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(para desenvolvedores)</a:t>
            </a: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•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PromptBase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(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templates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prontos)</a:t>
            </a:r>
          </a:p>
          <a:p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Comunidades:</a:t>
            </a: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• r/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PromptEngineering</a:t>
            </a:r>
            <a:endParaRPr lang="pt-BR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  <a:p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•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Learn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</a:t>
            </a:r>
            <a:r>
              <a:rPr lang="pt-BR" sz="3000" dirty="0" err="1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Prompting</a:t>
            </a: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(curso gratuito)</a:t>
            </a:r>
            <a:b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</a:br>
            <a: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  <a:t> </a:t>
            </a:r>
            <a:br>
              <a:rPr lang="pt-BR" sz="3000" dirty="0">
                <a:solidFill>
                  <a:srgbClr val="A2B6C1"/>
                </a:solidFill>
                <a:latin typeface="Gotham HTF Book" pitchFamily="34" charset="0"/>
                <a:ea typeface="Gotham HTF Book" pitchFamily="34" charset="-122"/>
              </a:rPr>
            </a:br>
            <a:endParaRPr lang="en-US" sz="3000" dirty="0">
              <a:solidFill>
                <a:srgbClr val="A2B6C1"/>
              </a:solidFill>
              <a:latin typeface="Gotham HTF Book" pitchFamily="34" charset="0"/>
              <a:ea typeface="Gotham HTF Book" pitchFamily="34" charset="-122"/>
            </a:endParaRPr>
          </a:p>
        </p:txBody>
      </p:sp>
      <p:pic>
        <p:nvPicPr>
          <p:cNvPr id="6" name="Image 50" descr=" ">
            <a:extLst>
              <a:ext uri="{FF2B5EF4-FFF2-40B4-BE49-F238E27FC236}">
                <a16:creationId xmlns:a16="http://schemas.microsoft.com/office/drawing/2014/main" id="{F7EA82E5-1D46-9925-3824-67A2260F31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86494" y="833718"/>
            <a:ext cx="3553685" cy="95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098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E3CFAF38-61B6-194A-C475-0D608E283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" y="0"/>
            <a:ext cx="24384000" cy="137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1222792B-913B-C8F6-33CD-621AD5DA9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595" y="5391459"/>
            <a:ext cx="10861872" cy="293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49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2090</Words>
  <Application>Microsoft Office PowerPoint</Application>
  <PresentationFormat>Personalizar</PresentationFormat>
  <Paragraphs>274</Paragraphs>
  <Slides>18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Arial</vt:lpstr>
      <vt:lpstr>Gotham HTF Book</vt:lpstr>
      <vt:lpstr>Gotham HTF Medium</vt:lpstr>
      <vt:lpstr>Roboto Bold</vt:lpstr>
      <vt:lpstr>Roboto Regular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Joaquim Da Silva Barraca Filho</cp:lastModifiedBy>
  <cp:revision>6</cp:revision>
  <dcterms:created xsi:type="dcterms:W3CDTF">2024-08-08T16:34:10Z</dcterms:created>
  <dcterms:modified xsi:type="dcterms:W3CDTF">2025-11-11T20:39:00Z</dcterms:modified>
</cp:coreProperties>
</file>